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94" r:id="rId2"/>
    <p:sldId id="395" r:id="rId3"/>
    <p:sldId id="397" r:id="rId4"/>
    <p:sldId id="2147477174" r:id="rId5"/>
    <p:sldId id="2147477150" r:id="rId6"/>
    <p:sldId id="400" r:id="rId7"/>
    <p:sldId id="2147477176" r:id="rId8"/>
    <p:sldId id="2147477170" r:id="rId9"/>
    <p:sldId id="2147477171" r:id="rId10"/>
    <p:sldId id="2147477172" r:id="rId11"/>
    <p:sldId id="3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B6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t RuiXi" userId="01a4ba77-2589-4e56-89fb-17ef4e3bc744" providerId="ADAL" clId="{13C0326F-866E-45C6-B343-6817AF21032E}"/>
    <pc:docChg chg="modSld">
      <pc:chgData name="Seet RuiXi" userId="01a4ba77-2589-4e56-89fb-17ef4e3bc744" providerId="ADAL" clId="{13C0326F-866E-45C6-B343-6817AF21032E}" dt="2025-12-31T01:19:18.865" v="19" actId="20577"/>
      <pc:docMkLst>
        <pc:docMk/>
      </pc:docMkLst>
      <pc:sldChg chg="modSp mod">
        <pc:chgData name="Seet RuiXi" userId="01a4ba77-2589-4e56-89fb-17ef4e3bc744" providerId="ADAL" clId="{13C0326F-866E-45C6-B343-6817AF21032E}" dt="2025-12-31T01:19:18.865" v="19" actId="20577"/>
        <pc:sldMkLst>
          <pc:docMk/>
          <pc:sldMk cId="3022204998" sldId="394"/>
        </pc:sldMkLst>
        <pc:spChg chg="mod">
          <ac:chgData name="Seet RuiXi" userId="01a4ba77-2589-4e56-89fb-17ef4e3bc744" providerId="ADAL" clId="{13C0326F-866E-45C6-B343-6817AF21032E}" dt="2025-12-31T01:19:18.865" v="19" actId="20577"/>
          <ac:spMkLst>
            <pc:docMk/>
            <pc:sldMk cId="3022204998" sldId="394"/>
            <ac:spMk id="2" creationId="{4BED8449-4B64-8C1C-BFA3-23204B1B26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61F54-00CE-4855-8FB8-6C2681F2FD6F}" type="datetimeFigureOut">
              <a:rPr lang="en-MY" smtClean="0"/>
              <a:t>31/12/2025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1C2E94-34DE-409D-9043-487A94FF3B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445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50" y="0"/>
            <a:ext cx="121950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669" y="1967135"/>
            <a:ext cx="4902597" cy="1894008"/>
          </a:xfrm>
        </p:spPr>
        <p:txBody>
          <a:bodyPr anchor="b">
            <a:noAutofit/>
          </a:bodyPr>
          <a:lstStyle>
            <a:lvl1pPr marL="0" indent="0" algn="l">
              <a:buFont typeface="Arial" charset="0"/>
              <a:buNone/>
              <a:defRPr sz="4500" b="0" i="0" cap="all" baseline="0">
                <a:solidFill>
                  <a:srgbClr val="50A241"/>
                </a:solidFill>
                <a:latin typeface="Roboto Black" charset="0"/>
                <a:ea typeface="Roboto Black" charset="0"/>
                <a:cs typeface="Roboto Black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714" y="3943861"/>
            <a:ext cx="3004868" cy="63676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rgbClr val="A4DE41"/>
                </a:solidFill>
                <a:latin typeface="Roboto Medium" charset="0"/>
                <a:ea typeface="Roboto Medium" charset="0"/>
                <a:cs typeface="Roboto Mediu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56798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524" y="0"/>
            <a:ext cx="12188951" cy="68562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888" y="1966820"/>
            <a:ext cx="4902597" cy="1894008"/>
          </a:xfrm>
        </p:spPr>
        <p:txBody>
          <a:bodyPr anchor="b">
            <a:noAutofit/>
          </a:bodyPr>
          <a:lstStyle>
            <a:lvl1pPr marL="0" indent="0" algn="l">
              <a:buFont typeface="Arial" charset="0"/>
              <a:buNone/>
              <a:defRPr sz="4500" b="0" i="0" cap="all" baseline="0">
                <a:solidFill>
                  <a:srgbClr val="50A241"/>
                </a:solidFill>
                <a:latin typeface="Roboto Black" charset="0"/>
                <a:ea typeface="Roboto Black" charset="0"/>
                <a:cs typeface="Roboto Black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1966" y="3943861"/>
            <a:ext cx="3004868" cy="63676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rgbClr val="A4DE41"/>
                </a:solidFill>
                <a:latin typeface="Roboto Medium" charset="0"/>
                <a:ea typeface="Roboto Medium" charset="0"/>
                <a:cs typeface="Roboto Mediu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3802F11-93A1-347E-4E98-169AA0EB0E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5304" y="430168"/>
            <a:ext cx="2179186" cy="7521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A1C28B-25E5-2A08-B8A8-015859AB6317}"/>
              </a:ext>
            </a:extLst>
          </p:cNvPr>
          <p:cNvSpPr txBox="1"/>
          <p:nvPr userDrawn="1"/>
        </p:nvSpPr>
        <p:spPr>
          <a:xfrm>
            <a:off x="630238" y="4895850"/>
            <a:ext cx="3360737" cy="652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MY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9EF07-1EC9-022F-9A11-6C58E68ADE6F}"/>
              </a:ext>
            </a:extLst>
          </p:cNvPr>
          <p:cNvSpPr txBox="1"/>
          <p:nvPr userDrawn="1"/>
        </p:nvSpPr>
        <p:spPr>
          <a:xfrm>
            <a:off x="544512" y="5538827"/>
            <a:ext cx="32750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kern="120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ＭＳ Ｐゴシック" charset="-128"/>
                <a:cs typeface="+mn-cs"/>
              </a:rPr>
              <a:t>© All Rights Reserved.</a:t>
            </a:r>
          </a:p>
          <a:p>
            <a:r>
              <a:rPr lang="en-US" sz="700" kern="120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ＭＳ Ｐゴシック" charset="-128"/>
                <a:cs typeface="+mn-cs"/>
              </a:rPr>
              <a:t>This material is confidential and proprietary to Khazanah Nasional </a:t>
            </a:r>
            <a:r>
              <a:rPr lang="en-US" sz="700" kern="1200" err="1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ＭＳ Ｐゴシック" charset="-128"/>
                <a:cs typeface="+mn-cs"/>
              </a:rPr>
              <a:t>Berhad</a:t>
            </a:r>
            <a:r>
              <a:rPr lang="en-US" sz="700" kern="120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ＭＳ Ｐゴシック" charset="-128"/>
                <a:cs typeface="+mn-cs"/>
              </a:rPr>
              <a:t>. No part of this material should be reproduced or published in any form by any means, nor should the material be disclosed to third parties without the consent of Khazanah Nasional </a:t>
            </a:r>
            <a:r>
              <a:rPr lang="en-US" sz="700" kern="1200" err="1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ＭＳ Ｐゴシック" charset="-128"/>
                <a:cs typeface="+mn-cs"/>
              </a:rPr>
              <a:t>Berhad</a:t>
            </a:r>
            <a:r>
              <a:rPr lang="en-US" sz="700" kern="1200">
                <a:solidFill>
                  <a:schemeClr val="bg1">
                    <a:lumMod val="65000"/>
                  </a:schemeClr>
                </a:solidFill>
                <a:effectLst/>
                <a:latin typeface="+mn-lt"/>
                <a:ea typeface="ＭＳ Ｐゴシック" charset="-128"/>
                <a:cs typeface="+mn-cs"/>
              </a:rPr>
              <a:t>.</a:t>
            </a:r>
          </a:p>
          <a:p>
            <a:endParaRPr lang="en-US" sz="700" kern="1200">
              <a:solidFill>
                <a:schemeClr val="tx1"/>
              </a:solidFill>
              <a:effectLst/>
              <a:latin typeface="+mn-lt"/>
              <a:ea typeface="ＭＳ Ｐゴシック" charset="-128"/>
              <a:cs typeface="+mn-cs"/>
            </a:endParaRPr>
          </a:p>
          <a:p>
            <a:r>
              <a:rPr lang="en-US" sz="1000" b="1" kern="1200">
                <a:solidFill>
                  <a:srgbClr val="419243"/>
                </a:solidFill>
                <a:effectLst/>
                <a:latin typeface="+mn-lt"/>
                <a:ea typeface="ＭＳ Ｐゴシック" charset="-128"/>
                <a:cs typeface="+mn-cs"/>
              </a:rPr>
              <a:t>www.khazanah.com.my</a:t>
            </a:r>
          </a:p>
          <a:p>
            <a:endParaRPr lang="en-US" sz="700">
              <a:latin typeface="+mn-lt"/>
            </a:endParaRPr>
          </a:p>
          <a:p>
            <a:endParaRPr lang="en-MY" sz="700">
              <a:latin typeface="+mn-lt"/>
            </a:endParaRP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0BA012C5-0CF2-4D43-EFE3-79CEFA02CF0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30768" y="192939"/>
            <a:ext cx="1563003" cy="147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06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6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388" y="1821180"/>
            <a:ext cx="9709027" cy="1739782"/>
          </a:xfrm>
        </p:spPr>
        <p:txBody>
          <a:bodyPr anchor="b">
            <a:normAutofit/>
          </a:bodyPr>
          <a:lstStyle>
            <a:lvl1pPr marL="0" indent="0" algn="l">
              <a:buFont typeface="+mj-lt"/>
              <a:buNone/>
              <a:defRPr sz="4500" b="1" cap="all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3388" y="3832647"/>
            <a:ext cx="9644062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536331" y="2584938"/>
            <a:ext cx="1167058" cy="10293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500" b="1" kern="1200" cap="all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18653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073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6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388" y="1821180"/>
            <a:ext cx="9709027" cy="1747402"/>
          </a:xfrm>
        </p:spPr>
        <p:txBody>
          <a:bodyPr anchor="b">
            <a:normAutofit/>
          </a:bodyPr>
          <a:lstStyle>
            <a:lvl1pPr marL="0" indent="0" algn="l">
              <a:buFont typeface="+mj-lt"/>
              <a:buNone/>
              <a:defRPr sz="4500" b="1" cap="all" baseline="0">
                <a:solidFill>
                  <a:srgbClr val="50A24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3388" y="3832647"/>
            <a:ext cx="9644062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0A24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536331" y="2584938"/>
            <a:ext cx="1167058" cy="10293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500" b="1" kern="1200" cap="all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r>
              <a:rPr lang="en-US">
                <a:solidFill>
                  <a:srgbClr val="50A24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76143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073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63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388" y="1996758"/>
            <a:ext cx="9709027" cy="1579444"/>
          </a:xfrm>
        </p:spPr>
        <p:txBody>
          <a:bodyPr anchor="b">
            <a:normAutofit/>
          </a:bodyPr>
          <a:lstStyle>
            <a:lvl1pPr marL="0" indent="0" algn="l">
              <a:buFont typeface="+mj-lt"/>
              <a:buNone/>
              <a:defRPr sz="4500" b="1" cap="all" baseline="0">
                <a:solidFill>
                  <a:srgbClr val="2D2F93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3388" y="3832647"/>
            <a:ext cx="9644062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2D2F93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536331" y="2584938"/>
            <a:ext cx="1167058" cy="10293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4500" b="1" kern="1200" cap="all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</a:lstStyle>
          <a:p>
            <a:pPr lvl="0"/>
            <a:r>
              <a:rPr lang="en-US">
                <a:solidFill>
                  <a:srgbClr val="2D2F9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95821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073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3672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61F358B-5891-3CE3-A556-0CC9ACEE6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fld id="{67650892-40D2-5549-9215-679429BEEC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599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40167" y="1989138"/>
            <a:ext cx="10908896" cy="41036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7B9164-E149-18A3-9DB9-D35A463C1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fld id="{67650892-40D2-5549-9215-679429BEEC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17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3F13B-EAEF-AEBB-AAAA-0353B53BA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fld id="{67650892-40D2-5549-9215-679429BEEC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972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2D5F32-D9D8-2A4D-B083-14783B2D8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A01BC9-006D-A646-9A3B-4AC63BF068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0" y="2801939"/>
            <a:ext cx="3798888" cy="11631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 i="0">
                <a:solidFill>
                  <a:srgbClr val="50A24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b="1" i="0">
                <a:solidFill>
                  <a:srgbClr val="50A24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b="1" i="0">
                <a:solidFill>
                  <a:srgbClr val="50A24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b="1" i="0">
                <a:solidFill>
                  <a:srgbClr val="50A24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b="1" i="0">
                <a:solidFill>
                  <a:srgbClr val="50A24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452333-9B84-1042-8BAF-56DE59F363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989138"/>
            <a:ext cx="4428067" cy="5503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500" b="1" i="0">
                <a:solidFill>
                  <a:srgbClr val="50A24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1pPr>
            <a:lvl2pPr marL="457200" indent="0">
              <a:buNone/>
              <a:defRPr b="1" i="0">
                <a:solidFill>
                  <a:srgbClr val="50A24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2pPr>
            <a:lvl3pPr marL="914400" indent="0">
              <a:buNone/>
              <a:defRPr b="1" i="0">
                <a:solidFill>
                  <a:srgbClr val="50A24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3pPr>
            <a:lvl4pPr marL="1371600" indent="0">
              <a:buNone/>
              <a:defRPr b="1" i="0">
                <a:solidFill>
                  <a:srgbClr val="50A24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4pPr>
            <a:lvl5pPr marL="1828800" indent="0">
              <a:buNone/>
              <a:defRPr b="1" i="0">
                <a:solidFill>
                  <a:srgbClr val="50A241"/>
                </a:solidFill>
                <a:latin typeface="Roboto Black" panose="02000000000000000000" pitchFamily="2" charset="0"/>
                <a:ea typeface="Roboto Black" panose="02000000000000000000" pitchFamily="2" charset="0"/>
              </a:defRPr>
            </a:lvl5pPr>
          </a:lstStyle>
          <a:p>
            <a:pPr lvl="0"/>
            <a:r>
              <a:rPr lang="en-GB"/>
              <a:t>THANK YOU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A9B9D-75E5-5B60-869C-A1C5183B998B}"/>
              </a:ext>
            </a:extLst>
          </p:cNvPr>
          <p:cNvSpPr txBox="1"/>
          <p:nvPr/>
        </p:nvSpPr>
        <p:spPr>
          <a:xfrm>
            <a:off x="1018690" y="4031728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rgbClr val="4391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@khazanahnasional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5DD25-64B0-F084-D989-1502F19F00B8}"/>
              </a:ext>
            </a:extLst>
          </p:cNvPr>
          <p:cNvSpPr txBox="1"/>
          <p:nvPr/>
        </p:nvSpPr>
        <p:spPr>
          <a:xfrm>
            <a:off x="1018690" y="5053741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rgbClr val="4391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@Khazanah_MY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0A1501-DDFB-F926-9060-C76D9408C445}"/>
              </a:ext>
            </a:extLst>
          </p:cNvPr>
          <p:cNvSpPr txBox="1"/>
          <p:nvPr/>
        </p:nvSpPr>
        <p:spPr>
          <a:xfrm>
            <a:off x="1018690" y="4542735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rgbClr val="4391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Khazanah Nasional </a:t>
            </a:r>
            <a:r>
              <a:rPr lang="en-US" sz="1400" err="1">
                <a:solidFill>
                  <a:srgbClr val="4391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Berhad</a:t>
            </a:r>
            <a:endParaRPr lang="en-US" sz="1400">
              <a:solidFill>
                <a:srgbClr val="4391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BC1526-203C-C02A-AAF0-E542A867F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38" y="5013403"/>
            <a:ext cx="388452" cy="3884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75A04B-FBA2-5BCA-EDB5-BACAE237A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38" y="4506200"/>
            <a:ext cx="388452" cy="3884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8643B2-30E8-2BAC-411E-C5DCD9BDF1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37" y="3990242"/>
            <a:ext cx="388452" cy="38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97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2560-31D1-74F4-47CD-ADB5F671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D14A68-E8AA-256C-36C1-42D3698F5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650892-40D2-5549-9215-679429BEEC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57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7700" y="648482"/>
            <a:ext cx="9245600" cy="1007037"/>
          </a:xfrm>
          <a:prstGeom prst="rect">
            <a:avLst/>
          </a:prstGeom>
        </p:spPr>
        <p:txBody>
          <a:bodyPr vert="horz" lIns="0" tIns="0" rIns="9144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2CF449-ECDB-4718-9763-96F1C937A89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6809" y="639201"/>
            <a:ext cx="1305025" cy="4024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7700" y="6395608"/>
            <a:ext cx="947183" cy="284155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62CCD0A-68CD-E58D-3211-A332E26E8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  <a:prstGeom prst="rect">
            <a:avLst/>
          </a:prstGeom>
        </p:spPr>
        <p:txBody>
          <a:bodyPr/>
          <a:lstStyle>
            <a:lvl1pPr algn="r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650892-40D2-5549-9215-679429BEEC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786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76" r:id="rId8"/>
    <p:sldLayoutId id="2147483679" r:id="rId9"/>
    <p:sldLayoutId id="2147483680" r:id="rId10"/>
  </p:sldLayoutIdLst>
  <p:hf hdr="0" ftr="0" dt="0"/>
  <p:txStyles>
    <p:titleStyle>
      <a:lvl1pPr algn="l" defTabSz="914400" rtl="0" eaLnBrk="1" fontAlgn="t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rgbClr val="50A24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200" b="0" i="0" kern="1200">
          <a:solidFill>
            <a:schemeClr val="bg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00" b="0" i="0" kern="1200">
          <a:solidFill>
            <a:schemeClr val="bg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00" b="0" i="0" kern="1200">
          <a:solidFill>
            <a:schemeClr val="bg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00" b="0" i="0" kern="1200">
          <a:solidFill>
            <a:schemeClr val="bg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200" b="0" i="0" kern="1200">
          <a:solidFill>
            <a:schemeClr val="bg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97">
          <p15:clr>
            <a:srgbClr val="F26B43"/>
          </p15:clr>
        </p15:guide>
        <p15:guide id="3" pos="7275">
          <p15:clr>
            <a:srgbClr val="F26B43"/>
          </p15:clr>
        </p15:guide>
        <p15:guide id="4" orient="horz" pos="406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pos="982">
          <p15:clr>
            <a:srgbClr val="F26B43"/>
          </p15:clr>
        </p15:guide>
        <p15:guide id="7" pos="2026">
          <p15:clr>
            <a:srgbClr val="F26B43"/>
          </p15:clr>
        </p15:guide>
        <p15:guide id="8" pos="1569">
          <p15:clr>
            <a:srgbClr val="F26B43"/>
          </p15:clr>
        </p15:guide>
        <p15:guide id="9" pos="1452">
          <p15:clr>
            <a:srgbClr val="F26B43"/>
          </p15:clr>
        </p15:guide>
        <p15:guide id="10" pos="2150">
          <p15:clr>
            <a:srgbClr val="F26B43"/>
          </p15:clr>
        </p15:guide>
        <p15:guide id="11" pos="2615">
          <p15:clr>
            <a:srgbClr val="F26B43"/>
          </p15:clr>
        </p15:guide>
        <p15:guide id="12" pos="2729">
          <p15:clr>
            <a:srgbClr val="F26B43"/>
          </p15:clr>
        </p15:guide>
        <p15:guide id="13" pos="3198">
          <p15:clr>
            <a:srgbClr val="F26B43"/>
          </p15:clr>
        </p15:guide>
        <p15:guide id="14" pos="3318">
          <p15:clr>
            <a:srgbClr val="F26B43"/>
          </p15:clr>
        </p15:guide>
        <p15:guide id="15" pos="3772">
          <p15:clr>
            <a:srgbClr val="F26B43"/>
          </p15:clr>
        </p15:guide>
        <p15:guide id="16" pos="3895">
          <p15:clr>
            <a:srgbClr val="F26B43"/>
          </p15:clr>
        </p15:guide>
        <p15:guide id="17" pos="4362">
          <p15:clr>
            <a:srgbClr val="F26B43"/>
          </p15:clr>
        </p15:guide>
        <p15:guide id="18" pos="4475">
          <p15:clr>
            <a:srgbClr val="F26B43"/>
          </p15:clr>
        </p15:guide>
        <p15:guide id="19" pos="4948">
          <p15:clr>
            <a:srgbClr val="F26B43"/>
          </p15:clr>
        </p15:guide>
        <p15:guide id="20" pos="5065">
          <p15:clr>
            <a:srgbClr val="F26B43"/>
          </p15:clr>
        </p15:guide>
        <p15:guide id="21" pos="5530">
          <p15:clr>
            <a:srgbClr val="F26B43"/>
          </p15:clr>
        </p15:guide>
        <p15:guide id="22" pos="5645">
          <p15:clr>
            <a:srgbClr val="F26B43"/>
          </p15:clr>
        </p15:guide>
        <p15:guide id="23" pos="6108">
          <p15:clr>
            <a:srgbClr val="F26B43"/>
          </p15:clr>
        </p15:guide>
        <p15:guide id="24" pos="6232">
          <p15:clr>
            <a:srgbClr val="F26B43"/>
          </p15:clr>
        </p15:guide>
        <p15:guide id="25" pos="6698">
          <p15:clr>
            <a:srgbClr val="F26B43"/>
          </p15:clr>
        </p15:guide>
        <p15:guide id="26" pos="6811">
          <p15:clr>
            <a:srgbClr val="F26B43"/>
          </p15:clr>
        </p15:guide>
        <p15:guide id="27" orient="horz" pos="1049">
          <p15:clr>
            <a:srgbClr val="F26B43"/>
          </p15:clr>
        </p15:guide>
        <p15:guide id="28" orient="horz" pos="1253">
          <p15:clr>
            <a:srgbClr val="F26B43"/>
          </p15:clr>
        </p15:guide>
        <p15:guide id="29" pos="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8449-4B64-8C1C-BFA3-23204B1B26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Year end reflections</a:t>
            </a:r>
            <a:br>
              <a:rPr lang="en-US" dirty="0"/>
            </a:br>
            <a:r>
              <a:rPr lang="en-US" sz="20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SubTitle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F414A62-A1BE-144D-D346-5EB36B3D0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966" y="4199859"/>
            <a:ext cx="3004868" cy="70175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accent4"/>
                </a:solidFill>
              </a:rPr>
              <a:t>Date</a:t>
            </a:r>
            <a:endParaRPr lang="en-MY" sz="1800" dirty="0">
              <a:solidFill>
                <a:schemeClr val="accent4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6EF76BF-C922-B496-7DCE-33E07B530910}"/>
              </a:ext>
            </a:extLst>
          </p:cNvPr>
          <p:cNvGrpSpPr/>
          <p:nvPr/>
        </p:nvGrpSpPr>
        <p:grpSpPr>
          <a:xfrm>
            <a:off x="10781414" y="1637415"/>
            <a:ext cx="1180214" cy="1488558"/>
            <a:chOff x="10781414" y="1637415"/>
            <a:chExt cx="1180214" cy="148855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4A5048-802A-7F49-5654-5C9C1EA74C39}"/>
                </a:ext>
              </a:extLst>
            </p:cNvPr>
            <p:cNvSpPr/>
            <p:nvPr/>
          </p:nvSpPr>
          <p:spPr>
            <a:xfrm>
              <a:off x="10781414" y="1637415"/>
              <a:ext cx="1180214" cy="11164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8CD677-D271-5EF8-65B6-C076C591B027}"/>
                </a:ext>
              </a:extLst>
            </p:cNvPr>
            <p:cNvSpPr/>
            <p:nvPr/>
          </p:nvSpPr>
          <p:spPr>
            <a:xfrm>
              <a:off x="10784959" y="2746745"/>
              <a:ext cx="1176669" cy="379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000"/>
                </a:lnSpc>
              </a:pPr>
              <a:r>
                <a:rPr lang="en-MY" sz="9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Roboto Condensed Light" panose="02000000000000000000" pitchFamily="2" charset="0"/>
                  <a:cs typeface="Arial" panose="020B0604020202020204" pitchFamily="34" charset="0"/>
                </a:rPr>
                <a:t>Analyst</a:t>
              </a:r>
            </a:p>
            <a:p>
              <a:pPr algn="ctr">
                <a:lnSpc>
                  <a:spcPts val="1000"/>
                </a:lnSpc>
              </a:pPr>
              <a:r>
                <a:rPr lang="en-MY" sz="1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Roboto Condensed Medium" panose="02000000000000000000" pitchFamily="2" charset="0"/>
                  <a:cs typeface="Arial" panose="020B0604020202020204" pitchFamily="34" charset="0"/>
                </a:rPr>
                <a:t>xxx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6440573-1235-CB3F-342B-73143A204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99873" y="1699638"/>
              <a:ext cx="759736" cy="1043562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50A6673-4AAF-4162-D98E-B9930881AE71}"/>
              </a:ext>
            </a:extLst>
          </p:cNvPr>
          <p:cNvGrpSpPr/>
          <p:nvPr/>
        </p:nvGrpSpPr>
        <p:grpSpPr>
          <a:xfrm>
            <a:off x="10793855" y="3189407"/>
            <a:ext cx="1180214" cy="1488558"/>
            <a:chOff x="10781414" y="1637415"/>
            <a:chExt cx="1180214" cy="148855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5882CD-D284-3344-73E8-4DBD8266B36F}"/>
                </a:ext>
              </a:extLst>
            </p:cNvPr>
            <p:cNvSpPr/>
            <p:nvPr/>
          </p:nvSpPr>
          <p:spPr>
            <a:xfrm>
              <a:off x="10781414" y="1637415"/>
              <a:ext cx="1180214" cy="11164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C56FC8-1A96-62A6-51BC-9537A5860F26}"/>
                </a:ext>
              </a:extLst>
            </p:cNvPr>
            <p:cNvSpPr/>
            <p:nvPr/>
          </p:nvSpPr>
          <p:spPr>
            <a:xfrm>
              <a:off x="10784959" y="2746745"/>
              <a:ext cx="1176669" cy="379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000"/>
                </a:lnSpc>
              </a:pPr>
              <a:r>
                <a:rPr lang="en-MY" sz="9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Roboto Condensed Light" panose="02000000000000000000" pitchFamily="2" charset="0"/>
                  <a:cs typeface="Arial" panose="020B0604020202020204" pitchFamily="34" charset="0"/>
                </a:rPr>
                <a:t>Analyst</a:t>
              </a:r>
            </a:p>
            <a:p>
              <a:pPr algn="ctr">
                <a:lnSpc>
                  <a:spcPts val="1000"/>
                </a:lnSpc>
              </a:pPr>
              <a:r>
                <a:rPr lang="en-MY" sz="1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ea typeface="Roboto Condensed Medium" panose="02000000000000000000" pitchFamily="2" charset="0"/>
                  <a:cs typeface="Arial" panose="020B0604020202020204" pitchFamily="34" charset="0"/>
                </a:rPr>
                <a:t>xxx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9293156-1B96-4087-19C2-5FC259566A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52258" y="3291634"/>
            <a:ext cx="741034" cy="94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0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BB10E-F362-7826-8594-3B3D9455E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" y="6092826"/>
            <a:ext cx="11663917" cy="76781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Take Away Box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F0A6B6-9634-5A3E-C6A2-DA30E9ED26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</p:spPr>
        <p:txBody>
          <a:bodyPr/>
          <a:lstStyle/>
          <a:p>
            <a:fld id="{67650892-40D2-5549-9215-679429BEEC37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4E6D90-5CDD-2682-03E0-043CA2C85248}"/>
              </a:ext>
            </a:extLst>
          </p:cNvPr>
          <p:cNvSpPr/>
          <p:nvPr/>
        </p:nvSpPr>
        <p:spPr>
          <a:xfrm>
            <a:off x="-903767" y="1105786"/>
            <a:ext cx="393405" cy="3934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8605F9-EE95-B398-51C7-749B43B72284}"/>
              </a:ext>
            </a:extLst>
          </p:cNvPr>
          <p:cNvSpPr/>
          <p:nvPr/>
        </p:nvSpPr>
        <p:spPr>
          <a:xfrm>
            <a:off x="-910856" y="1595733"/>
            <a:ext cx="393405" cy="393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085663-7610-87FB-6655-57630F428EED}"/>
              </a:ext>
            </a:extLst>
          </p:cNvPr>
          <p:cNvSpPr/>
          <p:nvPr/>
        </p:nvSpPr>
        <p:spPr>
          <a:xfrm>
            <a:off x="-928577" y="2120272"/>
            <a:ext cx="393405" cy="393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7DD72-4409-C59E-B04A-BBC1BD79E530}"/>
              </a:ext>
            </a:extLst>
          </p:cNvPr>
          <p:cNvSpPr/>
          <p:nvPr/>
        </p:nvSpPr>
        <p:spPr>
          <a:xfrm>
            <a:off x="-925032" y="2655444"/>
            <a:ext cx="393405" cy="3934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59543A-48F8-A517-B90D-9CC888CBF2E9}"/>
              </a:ext>
            </a:extLst>
          </p:cNvPr>
          <p:cNvSpPr/>
          <p:nvPr/>
        </p:nvSpPr>
        <p:spPr>
          <a:xfrm>
            <a:off x="-1453116" y="1098698"/>
            <a:ext cx="393405" cy="39340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25BA8B-9F48-BE50-7263-6DAD1AFA79CC}"/>
              </a:ext>
            </a:extLst>
          </p:cNvPr>
          <p:cNvSpPr/>
          <p:nvPr/>
        </p:nvSpPr>
        <p:spPr>
          <a:xfrm>
            <a:off x="-1460205" y="1588645"/>
            <a:ext cx="393405" cy="3934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59DF6B-F1FC-EC75-1B00-E65B0B1ED3D0}"/>
              </a:ext>
            </a:extLst>
          </p:cNvPr>
          <p:cNvSpPr/>
          <p:nvPr/>
        </p:nvSpPr>
        <p:spPr>
          <a:xfrm>
            <a:off x="-1477926" y="2113184"/>
            <a:ext cx="393405" cy="39340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623590-D9A5-7B2D-37ED-8C5C28398EE1}"/>
              </a:ext>
            </a:extLst>
          </p:cNvPr>
          <p:cNvSpPr/>
          <p:nvPr/>
        </p:nvSpPr>
        <p:spPr>
          <a:xfrm>
            <a:off x="-1474381" y="2648356"/>
            <a:ext cx="393405" cy="39340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56ADA61-FE4D-4677-4C99-0CC759CF6B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7321" y="616689"/>
            <a:ext cx="9548037" cy="104199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BE33EB-E447-4880-A2B9-32E7AD383C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0865" y="1736651"/>
            <a:ext cx="11001154" cy="415378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0CD5E85D-9CEE-74C3-D7F8-C7E83FD571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274828" y="882502"/>
            <a:ext cx="3583172" cy="39340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Main Title Area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38D3B93A-3F3D-7BC4-4B82-FE353DF6503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4241" y="3299637"/>
            <a:ext cx="8374911" cy="393405"/>
          </a:xfrm>
          <a:prstGeom prst="rect">
            <a:avLst/>
          </a:prstGeom>
        </p:spPr>
        <p:txBody>
          <a:bodyPr vert="horz" lIns="0" tIns="0" rIns="91440" bIns="0" rtlCol="0" anchor="t">
            <a:normAutofit/>
          </a:bodyPr>
          <a:lstStyle>
            <a:lvl1pPr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rgbClr val="50A241"/>
                </a:solidFill>
                <a:latin typeface="Roboto Black" charset="0"/>
                <a:ea typeface="Roboto Black" charset="0"/>
                <a:cs typeface="Roboto Black" charset="0"/>
              </a:defRPr>
            </a:lvl1pPr>
          </a:lstStyle>
          <a:p>
            <a:pPr algn="ctr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 Area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C6068C-00C2-5831-16E2-1235385A4E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07256" y="2853070"/>
            <a:ext cx="393405" cy="3934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F90DBB-3D82-4DC4-7AAD-20D5B7A332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07256" y="3343017"/>
            <a:ext cx="393405" cy="393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EC71D6-B546-ADF4-2806-FDC57845A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07256" y="3867556"/>
            <a:ext cx="393405" cy="393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14415BD-03CF-DC4E-3484-3C470E7938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07256" y="4402728"/>
            <a:ext cx="393405" cy="3934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9A64B1-AA37-91AF-F5A3-2B4718E31F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57907" y="2845982"/>
            <a:ext cx="393405" cy="3934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81B233E-25A9-BC06-845B-64677F8554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57907" y="3335929"/>
            <a:ext cx="393405" cy="3934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28F090-5E50-EE18-6E56-664F8E7A10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57907" y="3860468"/>
            <a:ext cx="393405" cy="3934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163C31-C7DF-90D4-4F7E-4E52DA86A6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57907" y="4395640"/>
            <a:ext cx="393405" cy="3934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FA3E94-AC5F-DB66-9B3E-D362C90EEC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207256" y="2303721"/>
            <a:ext cx="393405" cy="39340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D6EB7D-060F-6452-FD0A-285FCABEE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57907" y="2296633"/>
            <a:ext cx="393405" cy="39340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88216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A74A36C-D18F-F357-9232-718004F30EAC}"/>
              </a:ext>
            </a:extLst>
          </p:cNvPr>
          <p:cNvSpPr/>
          <p:nvPr/>
        </p:nvSpPr>
        <p:spPr>
          <a:xfrm>
            <a:off x="637955" y="1702060"/>
            <a:ext cx="4625163" cy="36827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D8449-4B64-8C1C-BFA3-23204B1B26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47700" y="653575"/>
            <a:ext cx="9602086" cy="1011713"/>
          </a:xfrm>
        </p:spPr>
        <p:txBody>
          <a:bodyPr/>
          <a:lstStyle/>
          <a:p>
            <a:r>
              <a:rPr lang="en-US" dirty="0"/>
              <a:t>Main title (Font: Roboto Black, Size: 24)</a:t>
            </a:r>
            <a:br>
              <a:rPr lang="en-US" dirty="0"/>
            </a:br>
            <a:r>
              <a:rPr lang="en-US" sz="20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SubTitle</a:t>
            </a:r>
            <a:r>
              <a:rPr lang="en-US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(Font: Roboto, Size: 20)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4BB10E-F362-7826-8594-3B3D9455E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" y="6092826"/>
            <a:ext cx="11663917" cy="767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Take Away Box (Font: ARIAL BOLD, Size: 12 Minimum, Spacing: Single)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F0A6B6-9634-5A3E-C6A2-DA30E9ED26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</p:spPr>
        <p:txBody>
          <a:bodyPr/>
          <a:lstStyle/>
          <a:p>
            <a:fld id="{67650892-40D2-5549-9215-679429BEEC37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4E6D90-5CDD-2682-03E0-043CA2C85248}"/>
              </a:ext>
            </a:extLst>
          </p:cNvPr>
          <p:cNvSpPr/>
          <p:nvPr/>
        </p:nvSpPr>
        <p:spPr>
          <a:xfrm>
            <a:off x="-903767" y="1105786"/>
            <a:ext cx="393405" cy="3934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8605F9-EE95-B398-51C7-749B43B72284}"/>
              </a:ext>
            </a:extLst>
          </p:cNvPr>
          <p:cNvSpPr/>
          <p:nvPr/>
        </p:nvSpPr>
        <p:spPr>
          <a:xfrm>
            <a:off x="-910856" y="1595733"/>
            <a:ext cx="393405" cy="393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085663-7610-87FB-6655-57630F428EED}"/>
              </a:ext>
            </a:extLst>
          </p:cNvPr>
          <p:cNvSpPr/>
          <p:nvPr/>
        </p:nvSpPr>
        <p:spPr>
          <a:xfrm>
            <a:off x="-928577" y="2120272"/>
            <a:ext cx="393405" cy="393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7DD72-4409-C59E-B04A-BBC1BD79E530}"/>
              </a:ext>
            </a:extLst>
          </p:cNvPr>
          <p:cNvSpPr/>
          <p:nvPr/>
        </p:nvSpPr>
        <p:spPr>
          <a:xfrm>
            <a:off x="-925032" y="2655444"/>
            <a:ext cx="393405" cy="3934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59543A-48F8-A517-B90D-9CC888CBF2E9}"/>
              </a:ext>
            </a:extLst>
          </p:cNvPr>
          <p:cNvSpPr/>
          <p:nvPr/>
        </p:nvSpPr>
        <p:spPr>
          <a:xfrm>
            <a:off x="-1453116" y="1098698"/>
            <a:ext cx="393405" cy="39340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25BA8B-9F48-BE50-7263-6DAD1AFA79CC}"/>
              </a:ext>
            </a:extLst>
          </p:cNvPr>
          <p:cNvSpPr/>
          <p:nvPr/>
        </p:nvSpPr>
        <p:spPr>
          <a:xfrm>
            <a:off x="-1460205" y="1588645"/>
            <a:ext cx="393405" cy="3934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59DF6B-F1FC-EC75-1B00-E65B0B1ED3D0}"/>
              </a:ext>
            </a:extLst>
          </p:cNvPr>
          <p:cNvSpPr/>
          <p:nvPr/>
        </p:nvSpPr>
        <p:spPr>
          <a:xfrm>
            <a:off x="-1477926" y="2113184"/>
            <a:ext cx="393405" cy="39340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623590-D9A5-7B2D-37ED-8C5C28398EE1}"/>
              </a:ext>
            </a:extLst>
          </p:cNvPr>
          <p:cNvSpPr/>
          <p:nvPr/>
        </p:nvSpPr>
        <p:spPr>
          <a:xfrm>
            <a:off x="-1474381" y="2648356"/>
            <a:ext cx="393405" cy="39340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F7FA3E-690A-B529-D12A-4E63AF277B60}"/>
              </a:ext>
            </a:extLst>
          </p:cNvPr>
          <p:cNvSpPr/>
          <p:nvPr/>
        </p:nvSpPr>
        <p:spPr>
          <a:xfrm>
            <a:off x="647700" y="1701710"/>
            <a:ext cx="4617507" cy="4185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Line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Line 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A103DA-BEC1-4FB2-9967-35857B996DF3}"/>
              </a:ext>
            </a:extLst>
          </p:cNvPr>
          <p:cNvSpPr txBox="1"/>
          <p:nvPr/>
        </p:nvSpPr>
        <p:spPr>
          <a:xfrm>
            <a:off x="715040" y="2450031"/>
            <a:ext cx="44709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Body Text (Font: Arial, Size: 10 Minimum, Spacing: Single)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92EBF9-D42C-64B8-CD2B-D8F801C9BA06}"/>
              </a:ext>
            </a:extLst>
          </p:cNvPr>
          <p:cNvSpPr txBox="1"/>
          <p:nvPr/>
        </p:nvSpPr>
        <p:spPr>
          <a:xfrm>
            <a:off x="6926795" y="1619034"/>
            <a:ext cx="2050057" cy="1077218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Header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Font: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ARIAL BOLD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Size: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12 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Spacing: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Single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0C8D09B-E869-09E7-34AE-283C47305CB6}"/>
              </a:ext>
            </a:extLst>
          </p:cNvPr>
          <p:cNvSpPr/>
          <p:nvPr/>
        </p:nvSpPr>
        <p:spPr>
          <a:xfrm>
            <a:off x="5437239" y="1839596"/>
            <a:ext cx="1484671" cy="313669"/>
          </a:xfrm>
          <a:custGeom>
            <a:avLst/>
            <a:gdLst>
              <a:gd name="connsiteX0" fmla="*/ 1484671 w 1484671"/>
              <a:gd name="connsiteY0" fmla="*/ 313669 h 313669"/>
              <a:gd name="connsiteX1" fmla="*/ 875071 w 1484671"/>
              <a:gd name="connsiteY1" fmla="*/ 38365 h 313669"/>
              <a:gd name="connsiteX2" fmla="*/ 0 w 1484671"/>
              <a:gd name="connsiteY2" fmla="*/ 8869 h 31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4671" h="313669">
                <a:moveTo>
                  <a:pt x="1484671" y="313669"/>
                </a:moveTo>
                <a:cubicBezTo>
                  <a:pt x="1303593" y="201417"/>
                  <a:pt x="1122516" y="89165"/>
                  <a:pt x="875071" y="38365"/>
                </a:cubicBezTo>
                <a:cubicBezTo>
                  <a:pt x="627626" y="-12435"/>
                  <a:pt x="313813" y="-1783"/>
                  <a:pt x="0" y="886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E1ACAF-D3FA-DFE2-8843-5F688DD7FA38}"/>
              </a:ext>
            </a:extLst>
          </p:cNvPr>
          <p:cNvSpPr txBox="1"/>
          <p:nvPr/>
        </p:nvSpPr>
        <p:spPr>
          <a:xfrm>
            <a:off x="6921910" y="3158915"/>
            <a:ext cx="2050057" cy="1077218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Body Text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Font: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ARIAL 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Size: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10 - 12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Spacing: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Single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AEC8D3B-F7DD-9547-038A-47D11FDFBB64}"/>
              </a:ext>
            </a:extLst>
          </p:cNvPr>
          <p:cNvSpPr/>
          <p:nvPr/>
        </p:nvSpPr>
        <p:spPr>
          <a:xfrm>
            <a:off x="5437238" y="3416475"/>
            <a:ext cx="1484671" cy="313669"/>
          </a:xfrm>
          <a:custGeom>
            <a:avLst/>
            <a:gdLst>
              <a:gd name="connsiteX0" fmla="*/ 1484671 w 1484671"/>
              <a:gd name="connsiteY0" fmla="*/ 313669 h 313669"/>
              <a:gd name="connsiteX1" fmla="*/ 875071 w 1484671"/>
              <a:gd name="connsiteY1" fmla="*/ 38365 h 313669"/>
              <a:gd name="connsiteX2" fmla="*/ 0 w 1484671"/>
              <a:gd name="connsiteY2" fmla="*/ 8869 h 31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4671" h="313669">
                <a:moveTo>
                  <a:pt x="1484671" y="313669"/>
                </a:moveTo>
                <a:cubicBezTo>
                  <a:pt x="1303593" y="201417"/>
                  <a:pt x="1122516" y="89165"/>
                  <a:pt x="875071" y="38365"/>
                </a:cubicBezTo>
                <a:cubicBezTo>
                  <a:pt x="627626" y="-12435"/>
                  <a:pt x="313813" y="-1783"/>
                  <a:pt x="0" y="886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08E700-AE80-1FA9-0B84-7852BBE8C65F}"/>
              </a:ext>
            </a:extLst>
          </p:cNvPr>
          <p:cNvSpPr txBox="1"/>
          <p:nvPr/>
        </p:nvSpPr>
        <p:spPr>
          <a:xfrm>
            <a:off x="6921909" y="4684469"/>
            <a:ext cx="2050057" cy="1077218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Take Away Box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Font: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ARIAL BOLD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Size: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12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Spacing: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Single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5B1348-29FD-4FC6-6777-C8A0B380003D}"/>
              </a:ext>
            </a:extLst>
          </p:cNvPr>
          <p:cNvSpPr txBox="1"/>
          <p:nvPr/>
        </p:nvSpPr>
        <p:spPr>
          <a:xfrm>
            <a:off x="9145221" y="1815934"/>
            <a:ext cx="17794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Keep maximum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2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lines only</a:t>
            </a:r>
            <a:endParaRPr lang="en-MY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F0EB83-FACD-6C4C-224F-74667348747C}"/>
              </a:ext>
            </a:extLst>
          </p:cNvPr>
          <p:cNvSpPr txBox="1"/>
          <p:nvPr/>
        </p:nvSpPr>
        <p:spPr>
          <a:xfrm>
            <a:off x="9145220" y="4861665"/>
            <a:ext cx="17794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Keep maximum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3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 lines only</a:t>
            </a:r>
            <a:endParaRPr lang="en-MY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D2B0E6D-9159-047E-1967-65955995B77E}"/>
              </a:ext>
            </a:extLst>
          </p:cNvPr>
          <p:cNvSpPr/>
          <p:nvPr/>
        </p:nvSpPr>
        <p:spPr>
          <a:xfrm>
            <a:off x="5698156" y="5043638"/>
            <a:ext cx="1222408" cy="943276"/>
          </a:xfrm>
          <a:custGeom>
            <a:avLst/>
            <a:gdLst>
              <a:gd name="connsiteX0" fmla="*/ 1222408 w 1222408"/>
              <a:gd name="connsiteY0" fmla="*/ 0 h 943276"/>
              <a:gd name="connsiteX1" fmla="*/ 385010 w 1222408"/>
              <a:gd name="connsiteY1" fmla="*/ 308008 h 943276"/>
              <a:gd name="connsiteX2" fmla="*/ 0 w 1222408"/>
              <a:gd name="connsiteY2" fmla="*/ 943276 h 943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2408" h="943276">
                <a:moveTo>
                  <a:pt x="1222408" y="0"/>
                </a:moveTo>
                <a:cubicBezTo>
                  <a:pt x="905576" y="75397"/>
                  <a:pt x="588745" y="150795"/>
                  <a:pt x="385010" y="308008"/>
                </a:cubicBezTo>
                <a:cubicBezTo>
                  <a:pt x="181275" y="465221"/>
                  <a:pt x="90637" y="704248"/>
                  <a:pt x="0" y="943276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DF8D823-F10A-30B2-71F1-1E0F9FB6F446}"/>
              </a:ext>
            </a:extLst>
          </p:cNvPr>
          <p:cNvGrpSpPr/>
          <p:nvPr/>
        </p:nvGrpSpPr>
        <p:grpSpPr>
          <a:xfrm>
            <a:off x="10860831" y="2362165"/>
            <a:ext cx="942754" cy="2499500"/>
            <a:chOff x="9657907" y="2296633"/>
            <a:chExt cx="942754" cy="2499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10B2A9-6FBA-A240-9D23-5B1F9DD11E0F}"/>
                </a:ext>
              </a:extLst>
            </p:cNvPr>
            <p:cNvSpPr/>
            <p:nvPr/>
          </p:nvSpPr>
          <p:spPr>
            <a:xfrm>
              <a:off x="10207256" y="2853070"/>
              <a:ext cx="393405" cy="39340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C15E56-041B-FA4E-8512-4C79A78EA144}"/>
                </a:ext>
              </a:extLst>
            </p:cNvPr>
            <p:cNvSpPr/>
            <p:nvPr/>
          </p:nvSpPr>
          <p:spPr>
            <a:xfrm>
              <a:off x="10207256" y="3343017"/>
              <a:ext cx="393405" cy="39340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4A6E4AC-B850-C985-94D8-2F339591BC91}"/>
                </a:ext>
              </a:extLst>
            </p:cNvPr>
            <p:cNvSpPr/>
            <p:nvPr/>
          </p:nvSpPr>
          <p:spPr>
            <a:xfrm>
              <a:off x="10207256" y="3867556"/>
              <a:ext cx="393405" cy="39340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F787CE6-CDB9-12AC-C51A-9D62927DF282}"/>
                </a:ext>
              </a:extLst>
            </p:cNvPr>
            <p:cNvSpPr/>
            <p:nvPr/>
          </p:nvSpPr>
          <p:spPr>
            <a:xfrm>
              <a:off x="10207256" y="4402728"/>
              <a:ext cx="393405" cy="3934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29052E8-9856-B9FB-1881-C1976458067C}"/>
                </a:ext>
              </a:extLst>
            </p:cNvPr>
            <p:cNvSpPr/>
            <p:nvPr/>
          </p:nvSpPr>
          <p:spPr>
            <a:xfrm>
              <a:off x="9657907" y="2845982"/>
              <a:ext cx="393405" cy="3934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854160C-E259-4879-4442-87ED8C85738B}"/>
                </a:ext>
              </a:extLst>
            </p:cNvPr>
            <p:cNvSpPr/>
            <p:nvPr/>
          </p:nvSpPr>
          <p:spPr>
            <a:xfrm>
              <a:off x="9657907" y="3335929"/>
              <a:ext cx="393405" cy="39340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8043E08-3ED4-BDE7-A24D-F105C2238D71}"/>
                </a:ext>
              </a:extLst>
            </p:cNvPr>
            <p:cNvSpPr/>
            <p:nvPr/>
          </p:nvSpPr>
          <p:spPr>
            <a:xfrm>
              <a:off x="9657907" y="3860468"/>
              <a:ext cx="393405" cy="39340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B5745CD-0D75-5E35-BB20-FCD98890C908}"/>
                </a:ext>
              </a:extLst>
            </p:cNvPr>
            <p:cNvSpPr/>
            <p:nvPr/>
          </p:nvSpPr>
          <p:spPr>
            <a:xfrm>
              <a:off x="9657907" y="4395640"/>
              <a:ext cx="393405" cy="393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A96BD15-B3C2-903A-E421-2715FCD0D310}"/>
                </a:ext>
              </a:extLst>
            </p:cNvPr>
            <p:cNvSpPr/>
            <p:nvPr/>
          </p:nvSpPr>
          <p:spPr>
            <a:xfrm>
              <a:off x="10207256" y="2303721"/>
              <a:ext cx="393405" cy="39340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43BDBAF-CCA3-BF2E-33C2-E603EF2A3D5E}"/>
                </a:ext>
              </a:extLst>
            </p:cNvPr>
            <p:cNvSpPr/>
            <p:nvPr/>
          </p:nvSpPr>
          <p:spPr>
            <a:xfrm>
              <a:off x="9657907" y="2296633"/>
              <a:ext cx="393405" cy="3934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124296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6CCA1-238A-A40E-B4AD-EDA5043E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18A5-BBAC-40F1-71FC-FDFF0FAEB5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47700" y="653575"/>
            <a:ext cx="9602086" cy="1011713"/>
          </a:xfrm>
        </p:spPr>
        <p:txBody>
          <a:bodyPr/>
          <a:lstStyle/>
          <a:p>
            <a:r>
              <a:rPr lang="en-US" dirty="0"/>
              <a:t>Main title (Font: Roboto Black, Size: 24)</a:t>
            </a:r>
            <a:br>
              <a:rPr lang="en-US" dirty="0"/>
            </a:br>
            <a:r>
              <a:rPr lang="en-US" sz="20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SubTitle</a:t>
            </a:r>
            <a:r>
              <a:rPr lang="en-US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(Font: Roboto, Size: 20)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7B10CB-F300-7266-AF3F-A2BE6E17BC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</p:spPr>
        <p:txBody>
          <a:bodyPr/>
          <a:lstStyle/>
          <a:p>
            <a:fld id="{67650892-40D2-5549-9215-679429BEEC37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C7384D-E6E2-26AD-B9EB-E10F46E315CA}"/>
              </a:ext>
            </a:extLst>
          </p:cNvPr>
          <p:cNvSpPr/>
          <p:nvPr/>
        </p:nvSpPr>
        <p:spPr>
          <a:xfrm>
            <a:off x="-903767" y="1105786"/>
            <a:ext cx="393405" cy="3934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960A06-EC13-4352-5D09-F346A544C5E1}"/>
              </a:ext>
            </a:extLst>
          </p:cNvPr>
          <p:cNvSpPr/>
          <p:nvPr/>
        </p:nvSpPr>
        <p:spPr>
          <a:xfrm>
            <a:off x="-910856" y="1595733"/>
            <a:ext cx="393405" cy="393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58176-4313-8203-0A5A-B5DBDAF6BD63}"/>
              </a:ext>
            </a:extLst>
          </p:cNvPr>
          <p:cNvSpPr/>
          <p:nvPr/>
        </p:nvSpPr>
        <p:spPr>
          <a:xfrm>
            <a:off x="-928577" y="2120272"/>
            <a:ext cx="393405" cy="393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334F80-F4A0-3051-E24F-2110A6AC10B6}"/>
              </a:ext>
            </a:extLst>
          </p:cNvPr>
          <p:cNvSpPr/>
          <p:nvPr/>
        </p:nvSpPr>
        <p:spPr>
          <a:xfrm>
            <a:off x="-925032" y="2655444"/>
            <a:ext cx="393405" cy="3934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299CCD-1149-723F-C9BF-2A2FC375F48F}"/>
              </a:ext>
            </a:extLst>
          </p:cNvPr>
          <p:cNvSpPr/>
          <p:nvPr/>
        </p:nvSpPr>
        <p:spPr>
          <a:xfrm>
            <a:off x="-1453116" y="1098698"/>
            <a:ext cx="393405" cy="39340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135190-072E-A01C-C424-7C0AB6E80207}"/>
              </a:ext>
            </a:extLst>
          </p:cNvPr>
          <p:cNvSpPr/>
          <p:nvPr/>
        </p:nvSpPr>
        <p:spPr>
          <a:xfrm>
            <a:off x="-1460205" y="1588645"/>
            <a:ext cx="393405" cy="3934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2C3D5C-31BC-1203-3366-2A253F89F951}"/>
              </a:ext>
            </a:extLst>
          </p:cNvPr>
          <p:cNvSpPr/>
          <p:nvPr/>
        </p:nvSpPr>
        <p:spPr>
          <a:xfrm>
            <a:off x="-1477926" y="2113184"/>
            <a:ext cx="393405" cy="39340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2AA34C-7E2E-BE4D-EAAA-A148094F7677}"/>
              </a:ext>
            </a:extLst>
          </p:cNvPr>
          <p:cNvSpPr/>
          <p:nvPr/>
        </p:nvSpPr>
        <p:spPr>
          <a:xfrm>
            <a:off x="-1474381" y="2648356"/>
            <a:ext cx="393405" cy="39340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7757C-52D5-9FC1-0FD9-7EED3F85A982}"/>
              </a:ext>
            </a:extLst>
          </p:cNvPr>
          <p:cNvSpPr txBox="1"/>
          <p:nvPr/>
        </p:nvSpPr>
        <p:spPr>
          <a:xfrm>
            <a:off x="6994171" y="1857584"/>
            <a:ext cx="2050057" cy="1077218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Table Header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Font: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ARIAL BOLD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Size: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1</a:t>
            </a:r>
            <a:r>
              <a:rPr lang="en-US" sz="1600" dirty="0">
                <a:solidFill>
                  <a:srgbClr val="FF0000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 - 12 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Spacing: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Single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DED84C8-B27A-2EFB-EE78-5E5CB358BB6D}"/>
              </a:ext>
            </a:extLst>
          </p:cNvPr>
          <p:cNvSpPr/>
          <p:nvPr/>
        </p:nvSpPr>
        <p:spPr>
          <a:xfrm>
            <a:off x="5504615" y="2078146"/>
            <a:ext cx="1484671" cy="313669"/>
          </a:xfrm>
          <a:custGeom>
            <a:avLst/>
            <a:gdLst>
              <a:gd name="connsiteX0" fmla="*/ 1484671 w 1484671"/>
              <a:gd name="connsiteY0" fmla="*/ 313669 h 313669"/>
              <a:gd name="connsiteX1" fmla="*/ 875071 w 1484671"/>
              <a:gd name="connsiteY1" fmla="*/ 38365 h 313669"/>
              <a:gd name="connsiteX2" fmla="*/ 0 w 1484671"/>
              <a:gd name="connsiteY2" fmla="*/ 8869 h 31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4671" h="313669">
                <a:moveTo>
                  <a:pt x="1484671" y="313669"/>
                </a:moveTo>
                <a:cubicBezTo>
                  <a:pt x="1303593" y="201417"/>
                  <a:pt x="1122516" y="89165"/>
                  <a:pt x="875071" y="38365"/>
                </a:cubicBezTo>
                <a:cubicBezTo>
                  <a:pt x="627626" y="-12435"/>
                  <a:pt x="313813" y="-1783"/>
                  <a:pt x="0" y="886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585F64-60C1-A0F8-0782-965FBB5F1C7A}"/>
              </a:ext>
            </a:extLst>
          </p:cNvPr>
          <p:cNvSpPr txBox="1"/>
          <p:nvPr/>
        </p:nvSpPr>
        <p:spPr>
          <a:xfrm>
            <a:off x="6989286" y="3397465"/>
            <a:ext cx="2050057" cy="1077218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Table Body Text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Font: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ARIAL 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Size: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10 - 11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Spacing: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Single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79103B-6344-E8A7-6D0F-0D8926636139}"/>
              </a:ext>
            </a:extLst>
          </p:cNvPr>
          <p:cNvSpPr/>
          <p:nvPr/>
        </p:nvSpPr>
        <p:spPr>
          <a:xfrm>
            <a:off x="5504614" y="3655025"/>
            <a:ext cx="1484671" cy="313669"/>
          </a:xfrm>
          <a:custGeom>
            <a:avLst/>
            <a:gdLst>
              <a:gd name="connsiteX0" fmla="*/ 1484671 w 1484671"/>
              <a:gd name="connsiteY0" fmla="*/ 313669 h 313669"/>
              <a:gd name="connsiteX1" fmla="*/ 875071 w 1484671"/>
              <a:gd name="connsiteY1" fmla="*/ 38365 h 313669"/>
              <a:gd name="connsiteX2" fmla="*/ 0 w 1484671"/>
              <a:gd name="connsiteY2" fmla="*/ 8869 h 31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4671" h="313669">
                <a:moveTo>
                  <a:pt x="1484671" y="313669"/>
                </a:moveTo>
                <a:cubicBezTo>
                  <a:pt x="1303593" y="201417"/>
                  <a:pt x="1122516" y="89165"/>
                  <a:pt x="875071" y="38365"/>
                </a:cubicBezTo>
                <a:cubicBezTo>
                  <a:pt x="627626" y="-12435"/>
                  <a:pt x="313813" y="-1783"/>
                  <a:pt x="0" y="886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464180-F2C2-909F-6979-38BBF5BA9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492634"/>
              </p:ext>
            </p:extLst>
          </p:nvPr>
        </p:nvGraphicFramePr>
        <p:xfrm>
          <a:off x="727674" y="2120272"/>
          <a:ext cx="4780486" cy="26350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1449">
                  <a:extLst>
                    <a:ext uri="{9D8B030D-6E8A-4147-A177-3AD203B41FA5}">
                      <a16:colId xmlns:a16="http://schemas.microsoft.com/office/drawing/2014/main" val="2972067404"/>
                    </a:ext>
                  </a:extLst>
                </a:gridCol>
                <a:gridCol w="4499037">
                  <a:extLst>
                    <a:ext uri="{9D8B030D-6E8A-4147-A177-3AD203B41FA5}">
                      <a16:colId xmlns:a16="http://schemas.microsoft.com/office/drawing/2014/main" val="146598486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Table Header (Font: ARIAL BOLD, Size: 10 Minimum, Spacing: Single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Software model of margins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513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ARIAL,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88344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ARIAL,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87484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ARIAL,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6263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ARIAL,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0003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ARIAL,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55627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ARIAL,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42180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1E55E2EE-3158-42C7-9CE9-9CAEEB730B34}"/>
              </a:ext>
            </a:extLst>
          </p:cNvPr>
          <p:cNvGrpSpPr/>
          <p:nvPr/>
        </p:nvGrpSpPr>
        <p:grpSpPr>
          <a:xfrm>
            <a:off x="10860831" y="2362165"/>
            <a:ext cx="942754" cy="2499500"/>
            <a:chOff x="9657907" y="2296633"/>
            <a:chExt cx="942754" cy="24995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398554-4DC5-1206-5927-4A15A2C6F7AF}"/>
                </a:ext>
              </a:extLst>
            </p:cNvPr>
            <p:cNvSpPr/>
            <p:nvPr/>
          </p:nvSpPr>
          <p:spPr>
            <a:xfrm>
              <a:off x="10207256" y="2853070"/>
              <a:ext cx="393405" cy="39340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3F43837-A47A-9154-3948-7E8C481335DF}"/>
                </a:ext>
              </a:extLst>
            </p:cNvPr>
            <p:cNvSpPr/>
            <p:nvPr/>
          </p:nvSpPr>
          <p:spPr>
            <a:xfrm>
              <a:off x="10207256" y="3343017"/>
              <a:ext cx="393405" cy="39340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C5BB0CA-0999-6BF1-315F-78CF25F5656B}"/>
                </a:ext>
              </a:extLst>
            </p:cNvPr>
            <p:cNvSpPr/>
            <p:nvPr/>
          </p:nvSpPr>
          <p:spPr>
            <a:xfrm>
              <a:off x="10207256" y="3867556"/>
              <a:ext cx="393405" cy="39340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7DC6E93-AA7A-5BB7-2E12-FFB82387A6E2}"/>
                </a:ext>
              </a:extLst>
            </p:cNvPr>
            <p:cNvSpPr/>
            <p:nvPr/>
          </p:nvSpPr>
          <p:spPr>
            <a:xfrm>
              <a:off x="10207256" y="4402728"/>
              <a:ext cx="393405" cy="3934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950092F-D039-7F07-978E-7C34DDC0FF9E}"/>
                </a:ext>
              </a:extLst>
            </p:cNvPr>
            <p:cNvSpPr/>
            <p:nvPr/>
          </p:nvSpPr>
          <p:spPr>
            <a:xfrm>
              <a:off x="9657907" y="2845982"/>
              <a:ext cx="393405" cy="3934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E97594D-BE00-B766-C194-AA4DA07032A6}"/>
                </a:ext>
              </a:extLst>
            </p:cNvPr>
            <p:cNvSpPr/>
            <p:nvPr/>
          </p:nvSpPr>
          <p:spPr>
            <a:xfrm>
              <a:off x="9657907" y="3335929"/>
              <a:ext cx="393405" cy="39340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F5E6544-9471-A314-5C1C-EE3CF535F763}"/>
                </a:ext>
              </a:extLst>
            </p:cNvPr>
            <p:cNvSpPr/>
            <p:nvPr/>
          </p:nvSpPr>
          <p:spPr>
            <a:xfrm>
              <a:off x="9657907" y="3860468"/>
              <a:ext cx="393405" cy="39340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DB85350-2796-0B23-097D-75860B57AA7B}"/>
                </a:ext>
              </a:extLst>
            </p:cNvPr>
            <p:cNvSpPr/>
            <p:nvPr/>
          </p:nvSpPr>
          <p:spPr>
            <a:xfrm>
              <a:off x="9657907" y="4395640"/>
              <a:ext cx="393405" cy="393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6AB1188-B36D-0CDB-3550-9A5F6877E7B0}"/>
                </a:ext>
              </a:extLst>
            </p:cNvPr>
            <p:cNvSpPr/>
            <p:nvPr/>
          </p:nvSpPr>
          <p:spPr>
            <a:xfrm>
              <a:off x="10207256" y="2303721"/>
              <a:ext cx="393405" cy="39340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C96AB27-4B0F-18BC-6AC3-C5D85B172839}"/>
                </a:ext>
              </a:extLst>
            </p:cNvPr>
            <p:cNvSpPr/>
            <p:nvPr/>
          </p:nvSpPr>
          <p:spPr>
            <a:xfrm>
              <a:off x="9657907" y="2296633"/>
              <a:ext cx="393405" cy="3934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2875362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3714-812C-0963-7F04-E2283B2B4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Section divider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FBB04-748B-7A11-7F0F-7D615529BE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</p:spPr>
        <p:txBody>
          <a:bodyPr/>
          <a:lstStyle/>
          <a:p>
            <a:fld id="{67650892-40D2-5549-9215-679429BEEC37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06B17-C8FE-B175-C59F-A400E43C8513}"/>
              </a:ext>
            </a:extLst>
          </p:cNvPr>
          <p:cNvSpPr txBox="1"/>
          <p:nvPr/>
        </p:nvSpPr>
        <p:spPr>
          <a:xfrm>
            <a:off x="8524588" y="3917390"/>
            <a:ext cx="2050057" cy="1077218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Divider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Font: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ARIAL BOLD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Size: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60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Spacing: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Single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542C1C-25BE-81F8-2092-905C083068A9}"/>
              </a:ext>
            </a:extLst>
          </p:cNvPr>
          <p:cNvSpPr/>
          <p:nvPr/>
        </p:nvSpPr>
        <p:spPr>
          <a:xfrm>
            <a:off x="7035032" y="4137952"/>
            <a:ext cx="1484671" cy="313669"/>
          </a:xfrm>
          <a:custGeom>
            <a:avLst/>
            <a:gdLst>
              <a:gd name="connsiteX0" fmla="*/ 1484671 w 1484671"/>
              <a:gd name="connsiteY0" fmla="*/ 313669 h 313669"/>
              <a:gd name="connsiteX1" fmla="*/ 875071 w 1484671"/>
              <a:gd name="connsiteY1" fmla="*/ 38365 h 313669"/>
              <a:gd name="connsiteX2" fmla="*/ 0 w 1484671"/>
              <a:gd name="connsiteY2" fmla="*/ 8869 h 31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4671" h="313669">
                <a:moveTo>
                  <a:pt x="1484671" y="313669"/>
                </a:moveTo>
                <a:cubicBezTo>
                  <a:pt x="1303593" y="201417"/>
                  <a:pt x="1122516" y="89165"/>
                  <a:pt x="875071" y="38365"/>
                </a:cubicBezTo>
                <a:cubicBezTo>
                  <a:pt x="627626" y="-12435"/>
                  <a:pt x="313813" y="-1783"/>
                  <a:pt x="0" y="886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337CA0-ADDF-3C1D-9EC6-09A360EBA902}"/>
              </a:ext>
            </a:extLst>
          </p:cNvPr>
          <p:cNvGrpSpPr/>
          <p:nvPr/>
        </p:nvGrpSpPr>
        <p:grpSpPr>
          <a:xfrm>
            <a:off x="10860831" y="2362165"/>
            <a:ext cx="942754" cy="2499500"/>
            <a:chOff x="9657907" y="2296633"/>
            <a:chExt cx="942754" cy="2499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05EEAA-75E9-01EF-D412-CBA96D06CE00}"/>
                </a:ext>
              </a:extLst>
            </p:cNvPr>
            <p:cNvSpPr/>
            <p:nvPr/>
          </p:nvSpPr>
          <p:spPr>
            <a:xfrm>
              <a:off x="10207256" y="2853070"/>
              <a:ext cx="393405" cy="39340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83F1B7-A78B-BEDA-5B5E-6950A233C681}"/>
                </a:ext>
              </a:extLst>
            </p:cNvPr>
            <p:cNvSpPr/>
            <p:nvPr/>
          </p:nvSpPr>
          <p:spPr>
            <a:xfrm>
              <a:off x="10207256" y="3343017"/>
              <a:ext cx="393405" cy="39340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F6A9C3-3C10-4131-9899-CE4861A07578}"/>
                </a:ext>
              </a:extLst>
            </p:cNvPr>
            <p:cNvSpPr/>
            <p:nvPr/>
          </p:nvSpPr>
          <p:spPr>
            <a:xfrm>
              <a:off x="10207256" y="3867556"/>
              <a:ext cx="393405" cy="39340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FEDF0F-B968-E284-6BA7-76883C459798}"/>
                </a:ext>
              </a:extLst>
            </p:cNvPr>
            <p:cNvSpPr/>
            <p:nvPr/>
          </p:nvSpPr>
          <p:spPr>
            <a:xfrm>
              <a:off x="10207256" y="4402728"/>
              <a:ext cx="393405" cy="3934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69EA48-A46B-F85A-A233-9D4E29987B9B}"/>
                </a:ext>
              </a:extLst>
            </p:cNvPr>
            <p:cNvSpPr/>
            <p:nvPr/>
          </p:nvSpPr>
          <p:spPr>
            <a:xfrm>
              <a:off x="9657907" y="2845982"/>
              <a:ext cx="393405" cy="3934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20D1FFE-3E1D-C981-ADD0-E7153CFCD753}"/>
                </a:ext>
              </a:extLst>
            </p:cNvPr>
            <p:cNvSpPr/>
            <p:nvPr/>
          </p:nvSpPr>
          <p:spPr>
            <a:xfrm>
              <a:off x="9657907" y="3335929"/>
              <a:ext cx="393405" cy="39340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0A61CAE-7973-67DA-4A6B-FD397324AF47}"/>
                </a:ext>
              </a:extLst>
            </p:cNvPr>
            <p:cNvSpPr/>
            <p:nvPr/>
          </p:nvSpPr>
          <p:spPr>
            <a:xfrm>
              <a:off x="9657907" y="3860468"/>
              <a:ext cx="393405" cy="39340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21D1C19-F80D-0EFC-8E99-28A6C2284855}"/>
                </a:ext>
              </a:extLst>
            </p:cNvPr>
            <p:cNvSpPr/>
            <p:nvPr/>
          </p:nvSpPr>
          <p:spPr>
            <a:xfrm>
              <a:off x="9657907" y="4395640"/>
              <a:ext cx="393405" cy="393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AF2DE05-0A32-25F7-95E6-5A0349D11089}"/>
                </a:ext>
              </a:extLst>
            </p:cNvPr>
            <p:cNvSpPr/>
            <p:nvPr/>
          </p:nvSpPr>
          <p:spPr>
            <a:xfrm>
              <a:off x="10207256" y="2303721"/>
              <a:ext cx="393405" cy="39340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7612CB-6D80-C92D-AF7E-B71CD12A791C}"/>
                </a:ext>
              </a:extLst>
            </p:cNvPr>
            <p:cNvSpPr/>
            <p:nvPr/>
          </p:nvSpPr>
          <p:spPr>
            <a:xfrm>
              <a:off x="9657907" y="2296633"/>
              <a:ext cx="393405" cy="3934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212871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8449-4B64-8C1C-BFA3-23204B1B26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647700" y="653575"/>
            <a:ext cx="9602086" cy="1011713"/>
          </a:xfrm>
        </p:spPr>
        <p:txBody>
          <a:bodyPr/>
          <a:lstStyle/>
          <a:p>
            <a:r>
              <a:rPr lang="en-US" dirty="0"/>
              <a:t>Main title (Font: Roboto Black, Size: 24)</a:t>
            </a:r>
            <a:br>
              <a:rPr lang="en-US" dirty="0"/>
            </a:br>
            <a:r>
              <a:rPr lang="en-US" sz="2000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SubTitle</a:t>
            </a:r>
            <a:r>
              <a:rPr lang="en-US" sz="20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(Font: Roboto Light, Size: 20)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4BB10E-F362-7826-8594-3B3D9455EA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" y="6092826"/>
            <a:ext cx="11663917" cy="767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Take Away Box (Font: ARIAL BOLD, Size: 12 Minimum, Spacing: Single)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F0A6B6-9634-5A3E-C6A2-DA30E9ED26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</p:spPr>
        <p:txBody>
          <a:bodyPr/>
          <a:lstStyle/>
          <a:p>
            <a:fld id="{67650892-40D2-5549-9215-679429BEEC37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6" name="Table 19">
            <a:extLst>
              <a:ext uri="{FF2B5EF4-FFF2-40B4-BE49-F238E27FC236}">
                <a16:creationId xmlns:a16="http://schemas.microsoft.com/office/drawing/2014/main" id="{8F9FB0BE-6C8D-CEA7-CE11-E4D42B1B9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593376"/>
              </p:ext>
            </p:extLst>
          </p:nvPr>
        </p:nvGraphicFramePr>
        <p:xfrm>
          <a:off x="664515" y="1792878"/>
          <a:ext cx="11030294" cy="7924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02765">
                  <a:extLst>
                    <a:ext uri="{9D8B030D-6E8A-4147-A177-3AD203B41FA5}">
                      <a16:colId xmlns:a16="http://schemas.microsoft.com/office/drawing/2014/main" val="2972067404"/>
                    </a:ext>
                  </a:extLst>
                </a:gridCol>
                <a:gridCol w="4391529">
                  <a:extLst>
                    <a:ext uri="{9D8B030D-6E8A-4147-A177-3AD203B41FA5}">
                      <a16:colId xmlns:a16="http://schemas.microsoft.com/office/drawing/2014/main" val="1465984864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644441757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72331016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408041582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30808455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Table Header (Font: Roboto Medium, Size: 10 Minimum, Spacing: Single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Software model of margins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lang="en-MY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oboto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5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Roboto Light,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MY" sz="1000" dirty="0"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88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Roboto Light,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MY" sz="1000" dirty="0"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87484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24E6D90-5CDD-2682-03E0-043CA2C85248}"/>
              </a:ext>
            </a:extLst>
          </p:cNvPr>
          <p:cNvSpPr/>
          <p:nvPr/>
        </p:nvSpPr>
        <p:spPr>
          <a:xfrm>
            <a:off x="-903767" y="1105786"/>
            <a:ext cx="393405" cy="3934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8605F9-EE95-B398-51C7-749B43B72284}"/>
              </a:ext>
            </a:extLst>
          </p:cNvPr>
          <p:cNvSpPr/>
          <p:nvPr/>
        </p:nvSpPr>
        <p:spPr>
          <a:xfrm>
            <a:off x="-910856" y="1595733"/>
            <a:ext cx="393405" cy="393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085663-7610-87FB-6655-57630F428EED}"/>
              </a:ext>
            </a:extLst>
          </p:cNvPr>
          <p:cNvSpPr/>
          <p:nvPr/>
        </p:nvSpPr>
        <p:spPr>
          <a:xfrm>
            <a:off x="-928577" y="2120272"/>
            <a:ext cx="393405" cy="393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7DD72-4409-C59E-B04A-BBC1BD79E530}"/>
              </a:ext>
            </a:extLst>
          </p:cNvPr>
          <p:cNvSpPr/>
          <p:nvPr/>
        </p:nvSpPr>
        <p:spPr>
          <a:xfrm>
            <a:off x="-925032" y="2655444"/>
            <a:ext cx="393405" cy="39340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59543A-48F8-A517-B90D-9CC888CBF2E9}"/>
              </a:ext>
            </a:extLst>
          </p:cNvPr>
          <p:cNvSpPr/>
          <p:nvPr/>
        </p:nvSpPr>
        <p:spPr>
          <a:xfrm>
            <a:off x="-1453116" y="1098698"/>
            <a:ext cx="393405" cy="393405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25BA8B-9F48-BE50-7263-6DAD1AFA79CC}"/>
              </a:ext>
            </a:extLst>
          </p:cNvPr>
          <p:cNvSpPr/>
          <p:nvPr/>
        </p:nvSpPr>
        <p:spPr>
          <a:xfrm>
            <a:off x="-1460205" y="1588645"/>
            <a:ext cx="393405" cy="3934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59DF6B-F1FC-EC75-1B00-E65B0B1ED3D0}"/>
              </a:ext>
            </a:extLst>
          </p:cNvPr>
          <p:cNvSpPr/>
          <p:nvPr/>
        </p:nvSpPr>
        <p:spPr>
          <a:xfrm>
            <a:off x="-1477926" y="2113184"/>
            <a:ext cx="393405" cy="39340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623590-D9A5-7B2D-37ED-8C5C28398EE1}"/>
              </a:ext>
            </a:extLst>
          </p:cNvPr>
          <p:cNvSpPr/>
          <p:nvPr/>
        </p:nvSpPr>
        <p:spPr>
          <a:xfrm>
            <a:off x="-1474381" y="2648356"/>
            <a:ext cx="393405" cy="39340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26D8A532-01DC-8F2A-CA13-7BE4E64B8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690343"/>
              </p:ext>
            </p:extLst>
          </p:nvPr>
        </p:nvGraphicFramePr>
        <p:xfrm>
          <a:off x="657426" y="2774617"/>
          <a:ext cx="11059386" cy="7924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02765">
                  <a:extLst>
                    <a:ext uri="{9D8B030D-6E8A-4147-A177-3AD203B41FA5}">
                      <a16:colId xmlns:a16="http://schemas.microsoft.com/office/drawing/2014/main" val="2972067404"/>
                    </a:ext>
                  </a:extLst>
                </a:gridCol>
                <a:gridCol w="4391529">
                  <a:extLst>
                    <a:ext uri="{9D8B030D-6E8A-4147-A177-3AD203B41FA5}">
                      <a16:colId xmlns:a16="http://schemas.microsoft.com/office/drawing/2014/main" val="1465984864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2644441757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723310160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4080415820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30808455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Table Header (Font: Roboto Medium, Size: 10 Minimum, Spacing: Single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Software model of margins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lang="en-MY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oboto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B6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B6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5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Roboto Light,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MY" sz="1000" dirty="0"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88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Roboto Light,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MY" sz="1000" dirty="0"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874843"/>
                  </a:ext>
                </a:extLst>
              </a:tr>
            </a:tbl>
          </a:graphicData>
        </a:graphic>
      </p:graphicFrame>
      <p:graphicFrame>
        <p:nvGraphicFramePr>
          <p:cNvPr id="8" name="Table 19">
            <a:extLst>
              <a:ext uri="{FF2B5EF4-FFF2-40B4-BE49-F238E27FC236}">
                <a16:creationId xmlns:a16="http://schemas.microsoft.com/office/drawing/2014/main" id="{7478F725-DD2E-5A01-04A3-E4C60EB4A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999656"/>
              </p:ext>
            </p:extLst>
          </p:nvPr>
        </p:nvGraphicFramePr>
        <p:xfrm>
          <a:off x="646794" y="3763446"/>
          <a:ext cx="11059386" cy="7924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02765">
                  <a:extLst>
                    <a:ext uri="{9D8B030D-6E8A-4147-A177-3AD203B41FA5}">
                      <a16:colId xmlns:a16="http://schemas.microsoft.com/office/drawing/2014/main" val="2972067404"/>
                    </a:ext>
                  </a:extLst>
                </a:gridCol>
                <a:gridCol w="4391529">
                  <a:extLst>
                    <a:ext uri="{9D8B030D-6E8A-4147-A177-3AD203B41FA5}">
                      <a16:colId xmlns:a16="http://schemas.microsoft.com/office/drawing/2014/main" val="1465984864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2644441757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723310160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4080415820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30808455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Table Header (Font: Roboto Medium, Size: 10 Minimum, Spacing: Single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Software model of margins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lang="en-MY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Arial" panose="020B0604020202020204" pitchFamily="34" charset="0"/>
                        <a:ea typeface="Roboto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5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Roboto Light,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MY" sz="1000" dirty="0"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88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Roboto Light,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MY" sz="1000" dirty="0"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874843"/>
                  </a:ext>
                </a:extLst>
              </a:tr>
            </a:tbl>
          </a:graphicData>
        </a:graphic>
      </p:graphicFrame>
      <p:graphicFrame>
        <p:nvGraphicFramePr>
          <p:cNvPr id="10" name="Table 19">
            <a:extLst>
              <a:ext uri="{FF2B5EF4-FFF2-40B4-BE49-F238E27FC236}">
                <a16:creationId xmlns:a16="http://schemas.microsoft.com/office/drawing/2014/main" id="{61B0ACAE-9F30-DC5D-2070-4264A240D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216971"/>
              </p:ext>
            </p:extLst>
          </p:nvPr>
        </p:nvGraphicFramePr>
        <p:xfrm>
          <a:off x="639705" y="4745185"/>
          <a:ext cx="11059386" cy="79248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02765">
                  <a:extLst>
                    <a:ext uri="{9D8B030D-6E8A-4147-A177-3AD203B41FA5}">
                      <a16:colId xmlns:a16="http://schemas.microsoft.com/office/drawing/2014/main" val="2972067404"/>
                    </a:ext>
                  </a:extLst>
                </a:gridCol>
                <a:gridCol w="4391529">
                  <a:extLst>
                    <a:ext uri="{9D8B030D-6E8A-4147-A177-3AD203B41FA5}">
                      <a16:colId xmlns:a16="http://schemas.microsoft.com/office/drawing/2014/main" val="1465984864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2644441757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723310160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4080415820"/>
                    </a:ext>
                  </a:extLst>
                </a:gridCol>
                <a:gridCol w="1591273">
                  <a:extLst>
                    <a:ext uri="{9D8B030D-6E8A-4147-A177-3AD203B41FA5}">
                      <a16:colId xmlns:a16="http://schemas.microsoft.com/office/drawing/2014/main" val="30808455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Table Header (Font: Roboto Medium, Size: 10 Minimum, Spacing: Single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Software model of margins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lang="en-MY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oboto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5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Roboto Light,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MY" sz="1000" dirty="0"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88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95000"/>
                              <a:lumOff val="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Body Text (Font: Roboto Light, Size: 10 Minimum, Spacing: Single)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95000"/>
                            <a:lumOff val="5000"/>
                          </a:prstClr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MY" sz="1000" dirty="0">
                        <a:latin typeface="Arial" panose="020B0604020202020204" pitchFamily="34" charset="0"/>
                        <a:ea typeface="Roboto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87484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80FCF67-FA30-BF79-F4FB-5C7F832F7F9A}"/>
              </a:ext>
            </a:extLst>
          </p:cNvPr>
          <p:cNvSpPr txBox="1"/>
          <p:nvPr/>
        </p:nvSpPr>
        <p:spPr>
          <a:xfrm>
            <a:off x="6295816" y="5584413"/>
            <a:ext cx="5146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Template for 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Multiple tables</a:t>
            </a:r>
            <a:endParaRPr lang="en-MY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A9D862-F24A-9CF9-6FED-D334C40002C3}"/>
              </a:ext>
            </a:extLst>
          </p:cNvPr>
          <p:cNvGrpSpPr/>
          <p:nvPr/>
        </p:nvGrpSpPr>
        <p:grpSpPr>
          <a:xfrm>
            <a:off x="9303574" y="132075"/>
            <a:ext cx="572833" cy="1518738"/>
            <a:chOff x="9657907" y="2296633"/>
            <a:chExt cx="942754" cy="24995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5D527B2-981E-54D8-9D4B-6E4B25F20748}"/>
                </a:ext>
              </a:extLst>
            </p:cNvPr>
            <p:cNvSpPr/>
            <p:nvPr/>
          </p:nvSpPr>
          <p:spPr>
            <a:xfrm>
              <a:off x="10207256" y="2853070"/>
              <a:ext cx="393405" cy="39340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377BA7A-7B38-F48C-512D-CA0F4D830E30}"/>
                </a:ext>
              </a:extLst>
            </p:cNvPr>
            <p:cNvSpPr/>
            <p:nvPr/>
          </p:nvSpPr>
          <p:spPr>
            <a:xfrm>
              <a:off x="10207256" y="3343017"/>
              <a:ext cx="393405" cy="39340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D1B669-5EF6-8C72-B0D8-1242E25125BC}"/>
                </a:ext>
              </a:extLst>
            </p:cNvPr>
            <p:cNvSpPr/>
            <p:nvPr/>
          </p:nvSpPr>
          <p:spPr>
            <a:xfrm>
              <a:off x="10207256" y="3867556"/>
              <a:ext cx="393405" cy="39340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2B29C83-D35D-FFF2-E5B0-3F1A5BF7D2FE}"/>
                </a:ext>
              </a:extLst>
            </p:cNvPr>
            <p:cNvSpPr/>
            <p:nvPr/>
          </p:nvSpPr>
          <p:spPr>
            <a:xfrm>
              <a:off x="10207256" y="4402728"/>
              <a:ext cx="393405" cy="3934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E7283BA-917A-A0EF-4F1D-30728F26528E}"/>
                </a:ext>
              </a:extLst>
            </p:cNvPr>
            <p:cNvSpPr/>
            <p:nvPr/>
          </p:nvSpPr>
          <p:spPr>
            <a:xfrm>
              <a:off x="9657907" y="2845982"/>
              <a:ext cx="393405" cy="3934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90922F-7A70-B19A-B5C5-CD7256CD42A9}"/>
                </a:ext>
              </a:extLst>
            </p:cNvPr>
            <p:cNvSpPr/>
            <p:nvPr/>
          </p:nvSpPr>
          <p:spPr>
            <a:xfrm>
              <a:off x="9657907" y="3335929"/>
              <a:ext cx="393405" cy="39340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99CDB31-5349-8076-5507-38049DCB27AB}"/>
                </a:ext>
              </a:extLst>
            </p:cNvPr>
            <p:cNvSpPr/>
            <p:nvPr/>
          </p:nvSpPr>
          <p:spPr>
            <a:xfrm>
              <a:off x="9657907" y="3860468"/>
              <a:ext cx="393405" cy="39340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CA2F970-B27B-13BF-672E-EBB08DAD1185}"/>
                </a:ext>
              </a:extLst>
            </p:cNvPr>
            <p:cNvSpPr/>
            <p:nvPr/>
          </p:nvSpPr>
          <p:spPr>
            <a:xfrm>
              <a:off x="9657907" y="4395640"/>
              <a:ext cx="393405" cy="3934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7279CFB-9C19-6A95-CE50-45E3C5AF764F}"/>
                </a:ext>
              </a:extLst>
            </p:cNvPr>
            <p:cNvSpPr/>
            <p:nvPr/>
          </p:nvSpPr>
          <p:spPr>
            <a:xfrm>
              <a:off x="10207256" y="2303721"/>
              <a:ext cx="393405" cy="39340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3F36515-978E-3EDD-D332-A043D5591C2A}"/>
                </a:ext>
              </a:extLst>
            </p:cNvPr>
            <p:cNvSpPr/>
            <p:nvPr/>
          </p:nvSpPr>
          <p:spPr>
            <a:xfrm>
              <a:off x="9657907" y="2296633"/>
              <a:ext cx="393405" cy="3934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2500464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5644D-EEE8-2B59-E573-77BEC3EB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5F6B-1372-117B-B403-C10976152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latin typeface="Arial" panose="020B0604020202020204" pitchFamily="34" charset="0"/>
                <a:cs typeface="Arial" panose="020B0604020202020204" pitchFamily="34" charset="0"/>
              </a:rPr>
              <a:t>Stock Selection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2C7679-99C8-1930-CB46-EF91F8EC64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</p:spPr>
        <p:txBody>
          <a:bodyPr/>
          <a:lstStyle/>
          <a:p>
            <a:fld id="{67650892-40D2-5549-9215-679429BEEC37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740F0C-1BA6-0FDA-CD52-1B91FFAF6DE5}"/>
              </a:ext>
            </a:extLst>
          </p:cNvPr>
          <p:cNvSpPr txBox="1"/>
          <p:nvPr/>
        </p:nvSpPr>
        <p:spPr>
          <a:xfrm>
            <a:off x="8524588" y="3917390"/>
            <a:ext cx="2050057" cy="1077218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Divider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Font: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ARIAL BOLD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Size: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60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Spacing: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Single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22B7593-FC31-58C0-2D40-D220CCDFD647}"/>
              </a:ext>
            </a:extLst>
          </p:cNvPr>
          <p:cNvSpPr/>
          <p:nvPr/>
        </p:nvSpPr>
        <p:spPr>
          <a:xfrm>
            <a:off x="7035032" y="4137952"/>
            <a:ext cx="1484671" cy="313669"/>
          </a:xfrm>
          <a:custGeom>
            <a:avLst/>
            <a:gdLst>
              <a:gd name="connsiteX0" fmla="*/ 1484671 w 1484671"/>
              <a:gd name="connsiteY0" fmla="*/ 313669 h 313669"/>
              <a:gd name="connsiteX1" fmla="*/ 875071 w 1484671"/>
              <a:gd name="connsiteY1" fmla="*/ 38365 h 313669"/>
              <a:gd name="connsiteX2" fmla="*/ 0 w 1484671"/>
              <a:gd name="connsiteY2" fmla="*/ 8869 h 31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4671" h="313669">
                <a:moveTo>
                  <a:pt x="1484671" y="313669"/>
                </a:moveTo>
                <a:cubicBezTo>
                  <a:pt x="1303593" y="201417"/>
                  <a:pt x="1122516" y="89165"/>
                  <a:pt x="875071" y="38365"/>
                </a:cubicBezTo>
                <a:cubicBezTo>
                  <a:pt x="627626" y="-12435"/>
                  <a:pt x="313813" y="-1783"/>
                  <a:pt x="0" y="886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47824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2BD568-22F6-9FEF-57CC-BD4B2E9F30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7700" y="653576"/>
            <a:ext cx="9602086" cy="473476"/>
          </a:xfrm>
          <a:prstGeom prst="rect">
            <a:avLst/>
          </a:prstGeom>
        </p:spPr>
        <p:txBody>
          <a:bodyPr vert="horz" lIns="0" tIns="0" rIns="91440" bIns="0" rtlCol="0" anchor="t">
            <a:normAutofit/>
          </a:bodyPr>
          <a:lstStyle>
            <a:lvl1pPr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rgbClr val="50A241"/>
                </a:solidFill>
                <a:latin typeface="Roboto Black" charset="0"/>
                <a:ea typeface="Roboto Black" charset="0"/>
                <a:cs typeface="Roboto Black" charset="0"/>
              </a:defRPr>
            </a:lvl1pPr>
          </a:lstStyle>
          <a:p>
            <a:r>
              <a:rPr lang="en-US" sz="2400" dirty="0"/>
              <a:t>Peers Comparison (Font: Roboto Black, Size: 24)</a:t>
            </a:r>
            <a:endParaRPr lang="en-US" sz="4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F9B58-00EF-CD49-3227-D4E05B9B2D58}"/>
              </a:ext>
            </a:extLst>
          </p:cNvPr>
          <p:cNvSpPr txBox="1"/>
          <p:nvPr/>
        </p:nvSpPr>
        <p:spPr>
          <a:xfrm>
            <a:off x="9124749" y="6198858"/>
            <a:ext cx="26115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9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Roboto Light" panose="02000000000000000000" pitchFamily="2" charset="0"/>
                <a:cs typeface="Arial" panose="020B0604020202020204" pitchFamily="34" charset="0"/>
              </a:rPr>
              <a:t>Sources: Bloomberg, as of  11 September </a:t>
            </a:r>
            <a:endParaRPr kumimoji="0" lang="en-GB" sz="9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CF934D4-10BD-6E86-4003-0D51A2645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173512"/>
              </p:ext>
            </p:extLst>
          </p:nvPr>
        </p:nvGraphicFramePr>
        <p:xfrm>
          <a:off x="635944" y="1453375"/>
          <a:ext cx="11081137" cy="4716009"/>
        </p:xfrm>
        <a:graphic>
          <a:graphicData uri="http://schemas.openxmlformats.org/drawingml/2006/table">
            <a:tbl>
              <a:tblPr/>
              <a:tblGrid>
                <a:gridCol w="447557">
                  <a:extLst>
                    <a:ext uri="{9D8B030D-6E8A-4147-A177-3AD203B41FA5}">
                      <a16:colId xmlns:a16="http://schemas.microsoft.com/office/drawing/2014/main" val="2631164058"/>
                    </a:ext>
                  </a:extLst>
                </a:gridCol>
                <a:gridCol w="1796805">
                  <a:extLst>
                    <a:ext uri="{9D8B030D-6E8A-4147-A177-3AD203B41FA5}">
                      <a16:colId xmlns:a16="http://schemas.microsoft.com/office/drawing/2014/main" val="1421967124"/>
                    </a:ext>
                  </a:extLst>
                </a:gridCol>
                <a:gridCol w="527123">
                  <a:extLst>
                    <a:ext uri="{9D8B030D-6E8A-4147-A177-3AD203B41FA5}">
                      <a16:colId xmlns:a16="http://schemas.microsoft.com/office/drawing/2014/main" val="3264987241"/>
                    </a:ext>
                  </a:extLst>
                </a:gridCol>
                <a:gridCol w="523556">
                  <a:extLst>
                    <a:ext uri="{9D8B030D-6E8A-4147-A177-3AD203B41FA5}">
                      <a16:colId xmlns:a16="http://schemas.microsoft.com/office/drawing/2014/main" val="2259908619"/>
                    </a:ext>
                  </a:extLst>
                </a:gridCol>
                <a:gridCol w="551111">
                  <a:extLst>
                    <a:ext uri="{9D8B030D-6E8A-4147-A177-3AD203B41FA5}">
                      <a16:colId xmlns:a16="http://schemas.microsoft.com/office/drawing/2014/main" val="903557574"/>
                    </a:ext>
                  </a:extLst>
                </a:gridCol>
                <a:gridCol w="545852">
                  <a:extLst>
                    <a:ext uri="{9D8B030D-6E8A-4147-A177-3AD203B41FA5}">
                      <a16:colId xmlns:a16="http://schemas.microsoft.com/office/drawing/2014/main" val="4053097246"/>
                    </a:ext>
                  </a:extLst>
                </a:gridCol>
                <a:gridCol w="447557">
                  <a:extLst>
                    <a:ext uri="{9D8B030D-6E8A-4147-A177-3AD203B41FA5}">
                      <a16:colId xmlns:a16="http://schemas.microsoft.com/office/drawing/2014/main" val="2134997566"/>
                    </a:ext>
                  </a:extLst>
                </a:gridCol>
                <a:gridCol w="538896">
                  <a:extLst>
                    <a:ext uri="{9D8B030D-6E8A-4147-A177-3AD203B41FA5}">
                      <a16:colId xmlns:a16="http://schemas.microsoft.com/office/drawing/2014/main" val="1834408441"/>
                    </a:ext>
                  </a:extLst>
                </a:gridCol>
                <a:gridCol w="541179">
                  <a:extLst>
                    <a:ext uri="{9D8B030D-6E8A-4147-A177-3AD203B41FA5}">
                      <a16:colId xmlns:a16="http://schemas.microsoft.com/office/drawing/2014/main" val="1623837923"/>
                    </a:ext>
                  </a:extLst>
                </a:gridCol>
                <a:gridCol w="493226">
                  <a:extLst>
                    <a:ext uri="{9D8B030D-6E8A-4147-A177-3AD203B41FA5}">
                      <a16:colId xmlns:a16="http://schemas.microsoft.com/office/drawing/2014/main" val="3196358741"/>
                    </a:ext>
                  </a:extLst>
                </a:gridCol>
                <a:gridCol w="458974">
                  <a:extLst>
                    <a:ext uri="{9D8B030D-6E8A-4147-A177-3AD203B41FA5}">
                      <a16:colId xmlns:a16="http://schemas.microsoft.com/office/drawing/2014/main" val="1311161978"/>
                    </a:ext>
                  </a:extLst>
                </a:gridCol>
                <a:gridCol w="458974">
                  <a:extLst>
                    <a:ext uri="{9D8B030D-6E8A-4147-A177-3AD203B41FA5}">
                      <a16:colId xmlns:a16="http://schemas.microsoft.com/office/drawing/2014/main" val="873311974"/>
                    </a:ext>
                  </a:extLst>
                </a:gridCol>
                <a:gridCol w="447557">
                  <a:extLst>
                    <a:ext uri="{9D8B030D-6E8A-4147-A177-3AD203B41FA5}">
                      <a16:colId xmlns:a16="http://schemas.microsoft.com/office/drawing/2014/main" val="451103503"/>
                    </a:ext>
                  </a:extLst>
                </a:gridCol>
                <a:gridCol w="447557">
                  <a:extLst>
                    <a:ext uri="{9D8B030D-6E8A-4147-A177-3AD203B41FA5}">
                      <a16:colId xmlns:a16="http://schemas.microsoft.com/office/drawing/2014/main" val="1096104174"/>
                    </a:ext>
                  </a:extLst>
                </a:gridCol>
                <a:gridCol w="447557">
                  <a:extLst>
                    <a:ext uri="{9D8B030D-6E8A-4147-A177-3AD203B41FA5}">
                      <a16:colId xmlns:a16="http://schemas.microsoft.com/office/drawing/2014/main" val="3702325049"/>
                    </a:ext>
                  </a:extLst>
                </a:gridCol>
                <a:gridCol w="447557">
                  <a:extLst>
                    <a:ext uri="{9D8B030D-6E8A-4147-A177-3AD203B41FA5}">
                      <a16:colId xmlns:a16="http://schemas.microsoft.com/office/drawing/2014/main" val="3537743698"/>
                    </a:ext>
                  </a:extLst>
                </a:gridCol>
                <a:gridCol w="447557">
                  <a:extLst>
                    <a:ext uri="{9D8B030D-6E8A-4147-A177-3AD203B41FA5}">
                      <a16:colId xmlns:a16="http://schemas.microsoft.com/office/drawing/2014/main" val="770318143"/>
                    </a:ext>
                  </a:extLst>
                </a:gridCol>
                <a:gridCol w="456691">
                  <a:extLst>
                    <a:ext uri="{9D8B030D-6E8A-4147-A177-3AD203B41FA5}">
                      <a16:colId xmlns:a16="http://schemas.microsoft.com/office/drawing/2014/main" val="38981814"/>
                    </a:ext>
                  </a:extLst>
                </a:gridCol>
                <a:gridCol w="552610">
                  <a:extLst>
                    <a:ext uri="{9D8B030D-6E8A-4147-A177-3AD203B41FA5}">
                      <a16:colId xmlns:a16="http://schemas.microsoft.com/office/drawing/2014/main" val="1272117052"/>
                    </a:ext>
                  </a:extLst>
                </a:gridCol>
                <a:gridCol w="503241">
                  <a:extLst>
                    <a:ext uri="{9D8B030D-6E8A-4147-A177-3AD203B41FA5}">
                      <a16:colId xmlns:a16="http://schemas.microsoft.com/office/drawing/2014/main" val="3895354636"/>
                    </a:ext>
                  </a:extLst>
                </a:gridCol>
              </a:tblGrid>
              <a:tr h="329156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Cons. </a:t>
                      </a:r>
                      <a:r>
                        <a:rPr lang="en-GB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Avg</a:t>
                      </a: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 Rec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Company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Market Cap (USD bn)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Price (USD)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YTD Change (%)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3Y change (%)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Revenue growth (%)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EPS Growth (%)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PE (x)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EV/EBITDA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Dividend Yield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ROE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Net gearing (%)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499903"/>
                  </a:ext>
                </a:extLst>
              </a:tr>
              <a:tr h="168081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FY23E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FY24E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FY23E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FY24E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FY23E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FY24E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FY23E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FY24E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FY23E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FY24E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FY23E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FY24E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FY23E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000"/>
                        </a:lnSpc>
                      </a:pPr>
                      <a:r>
                        <a:rPr lang="en-GB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FY24E</a:t>
                      </a:r>
                    </a:p>
                  </a:txBody>
                  <a:tcPr marL="6960" marR="6960" marT="6960" marB="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688726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351820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902771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286454"/>
                  </a:ext>
                </a:extLst>
              </a:tr>
              <a:tr h="19000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557478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50475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806891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721221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14396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0451"/>
                  </a:ext>
                </a:extLst>
              </a:tr>
              <a:tr h="1610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0606778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419372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593142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142175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8610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536705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189953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244717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412639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0760316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201326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435092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614893"/>
                  </a:ext>
                </a:extLst>
              </a:tr>
              <a:tr h="184176">
                <a:tc>
                  <a:txBody>
                    <a:bodyPr/>
                    <a:lstStyle/>
                    <a:p>
                      <a:pPr algn="ctr" fontAlgn="t"/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Roboto Condensed Light" panose="02000000000000000000" pitchFamily="2" charset="0"/>
                        <a:ea typeface="Roboto Condensed Light" panose="02000000000000000000" pitchFamily="2" charset="0"/>
                        <a:cs typeface="Roboto Condensed Light" panose="02000000000000000000" pitchFamily="2" charset="0"/>
                      </a:endParaRPr>
                    </a:p>
                  </a:txBody>
                  <a:tcPr marL="6960" marR="6960" marT="6960" marB="0" anchor="ctr">
                    <a:lnL>
                      <a:noFill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GB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Average</a:t>
                      </a:r>
                    </a:p>
                  </a:txBody>
                  <a:tcPr marL="6960" marR="6960" marT="696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MY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Roboto Condensed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MY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Roboto Condensed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Condensed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Condensed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Condensed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Condensed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  <a:endParaRPr kumimoji="0" lang="en-MY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oboto Condensed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 Medium" panose="02000000000000000000" pitchFamily="2" charset="0"/>
                        <a:ea typeface="Roboto Condensed Medium" panose="02000000000000000000" pitchFamily="2" charset="0"/>
                        <a:cs typeface="Roboto Condensed Medium" panose="02000000000000000000" pitchFamily="2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 Medium" panose="02000000000000000000" pitchFamily="2" charset="0"/>
                        <a:ea typeface="Roboto Condensed Medium" panose="02000000000000000000" pitchFamily="2" charset="0"/>
                        <a:cs typeface="Roboto Condensed Medium" panose="02000000000000000000" pitchFamily="2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883467"/>
                  </a:ext>
                </a:extLst>
              </a:tr>
            </a:tbl>
          </a:graphicData>
        </a:graphic>
      </p:graphicFrame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2BFEAE1D-E951-DC12-ACD8-9072246E93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</p:spPr>
        <p:txBody>
          <a:bodyPr/>
          <a:lstStyle/>
          <a:p>
            <a:fld id="{67650892-40D2-5549-9215-679429BEEC3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1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B8481A-F47C-88FB-5B2A-69275741A7D3}"/>
              </a:ext>
            </a:extLst>
          </p:cNvPr>
          <p:cNvSpPr>
            <a:spLocks/>
          </p:cNvSpPr>
          <p:nvPr/>
        </p:nvSpPr>
        <p:spPr>
          <a:xfrm>
            <a:off x="8867553" y="1212112"/>
            <a:ext cx="3083442" cy="20414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2BD568-22F6-9FEF-57CC-BD4B2E9F30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7700" y="653576"/>
            <a:ext cx="9602086" cy="473476"/>
          </a:xfrm>
          <a:prstGeom prst="rect">
            <a:avLst/>
          </a:prstGeom>
        </p:spPr>
        <p:txBody>
          <a:bodyPr vert="horz" lIns="0" tIns="0" rIns="91440" bIns="0" rtlCol="0" anchor="t">
            <a:normAutofit/>
          </a:bodyPr>
          <a:lstStyle>
            <a:lvl1pPr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rgbClr val="50A241"/>
                </a:solidFill>
                <a:latin typeface="Roboto Black" charset="0"/>
                <a:ea typeface="Roboto Black" charset="0"/>
                <a:cs typeface="Roboto Black" charset="0"/>
              </a:defRPr>
            </a:lvl1pPr>
          </a:lstStyle>
          <a:p>
            <a:r>
              <a:rPr lang="en-US" sz="2400" dirty="0"/>
              <a:t>Company Name (Font: Roboto Black, Size: 24) </a:t>
            </a:r>
            <a:endParaRPr lang="en-US" sz="4400" dirty="0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2BFEAE1D-E951-DC12-ACD8-9072246E93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</p:spPr>
        <p:txBody>
          <a:bodyPr/>
          <a:lstStyle/>
          <a:p>
            <a:fld id="{67650892-40D2-5549-9215-679429BEEC37}" type="slidenum">
              <a:rPr lang="en-US" smtClean="0"/>
              <a:t>9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B7850A-C2B1-76FF-D39B-9627F1BF9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358269"/>
            <a:ext cx="8719138" cy="4997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Recommended entry : Take Away Box (Font: ARIAL BOLD, Size: 12 Minimum, Spacing: Single)</a:t>
            </a: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prstClr val="white"/>
                </a:solidFill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Recommended exit : Take Away Box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(Font: ARIAL BOLD, Size: 12 Minimum, Spacing: Single)</a:t>
            </a:r>
            <a:endParaRPr lang="en-US" sz="1200" b="1" dirty="0">
              <a:solidFill>
                <a:prstClr val="white"/>
              </a:solidFill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  <a:p>
            <a:pPr marR="0" lvl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Roboto Medium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15A76-B629-D6AF-2AEA-85A49D0A198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79598" y="1212112"/>
            <a:ext cx="8071438" cy="738664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Company background</a:t>
            </a: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333333"/>
                </a:solidFill>
                <a:latin typeface="Arial" panose="020B0604020202020204" pitchFamily="34" charset="0"/>
                <a:ea typeface="Roboto Light" panose="02000000000000000000" pitchFamily="2" charset="0"/>
                <a:cs typeface="Arial" panose="020B0604020202020204" pitchFamily="34" charset="0"/>
              </a:rPr>
              <a:t>Body Text (Font: ARIAL, Size: 10 Minimum, Spacing: Single)</a:t>
            </a: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00" dirty="0">
              <a:solidFill>
                <a:srgbClr val="333333"/>
              </a:solidFill>
              <a:latin typeface="Arial" panose="020B0604020202020204" pitchFamily="34" charset="0"/>
              <a:ea typeface="Roboto Light" panose="02000000000000000000" pitchFamily="2" charset="0"/>
              <a:cs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dirty="0">
              <a:solidFill>
                <a:srgbClr val="333333"/>
              </a:solidFill>
              <a:latin typeface="Arial" panose="020B0604020202020204" pitchFamily="34" charset="0"/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39653E-B8B9-4E67-1FAB-28260634F0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9598" y="5345594"/>
            <a:ext cx="8071437" cy="938248"/>
          </a:xfrm>
          <a:prstGeom prst="rect">
            <a:avLst/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1" i="0" u="sng" strike="noStrike" kern="0" cap="none" spc="0" normalizeH="0" baseline="0" noProof="0" dirty="0">
                <a:ln>
                  <a:noFill/>
                </a:ln>
                <a:solidFill>
                  <a:srgbClr val="F2F2F2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Earnings potential and valuations:</a:t>
            </a: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333333"/>
                </a:solidFill>
                <a:latin typeface="Arial" panose="020B0604020202020204" pitchFamily="34" charset="0"/>
                <a:ea typeface="Roboto Light" panose="02000000000000000000" pitchFamily="2" charset="0"/>
                <a:cs typeface="Arial" panose="020B0604020202020204" pitchFamily="34" charset="0"/>
              </a:rPr>
              <a:t>Body Text (Font: ARIAL, Size: 10 Minimum, Spacing: Single)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FBD91B-6E79-D78A-3E6B-591B353D73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9598" y="2047788"/>
            <a:ext cx="8071438" cy="3247226"/>
          </a:xfrm>
          <a:prstGeom prst="rect">
            <a:avLst/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1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Drivers:</a:t>
            </a: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333333"/>
                </a:solidFill>
                <a:latin typeface="Arial" panose="020B0604020202020204" pitchFamily="34" charset="0"/>
                <a:ea typeface="Roboto Light" panose="02000000000000000000" pitchFamily="2" charset="0"/>
                <a:cs typeface="Arial" panose="020B0604020202020204" pitchFamily="34" charset="0"/>
              </a:rPr>
              <a:t>Body Text (Font: ARIAL, Size: 10 Minimum, Spacing: Single)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4E2592CE-8AC7-C4EA-45F5-D35FDE99FD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9588540"/>
              </p:ext>
            </p:extLst>
          </p:nvPr>
        </p:nvGraphicFramePr>
        <p:xfrm>
          <a:off x="8867672" y="3340234"/>
          <a:ext cx="3083322" cy="29579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5164">
                  <a:extLst>
                    <a:ext uri="{9D8B030D-6E8A-4147-A177-3AD203B41FA5}">
                      <a16:colId xmlns:a16="http://schemas.microsoft.com/office/drawing/2014/main" val="1522779504"/>
                    </a:ext>
                  </a:extLst>
                </a:gridCol>
                <a:gridCol w="540481">
                  <a:extLst>
                    <a:ext uri="{9D8B030D-6E8A-4147-A177-3AD203B41FA5}">
                      <a16:colId xmlns:a16="http://schemas.microsoft.com/office/drawing/2014/main" val="3825896475"/>
                    </a:ext>
                  </a:extLst>
                </a:gridCol>
                <a:gridCol w="581159">
                  <a:extLst>
                    <a:ext uri="{9D8B030D-6E8A-4147-A177-3AD203B41FA5}">
                      <a16:colId xmlns:a16="http://schemas.microsoft.com/office/drawing/2014/main" val="3239681206"/>
                    </a:ext>
                  </a:extLst>
                </a:gridCol>
                <a:gridCol w="556518">
                  <a:extLst>
                    <a:ext uri="{9D8B030D-6E8A-4147-A177-3AD203B41FA5}">
                      <a16:colId xmlns:a16="http://schemas.microsoft.com/office/drawing/2014/main" val="2118705944"/>
                    </a:ext>
                  </a:extLst>
                </a:gridCol>
              </a:tblGrid>
              <a:tr h="296316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 Narrow" panose="020B0606020202030204" pitchFamily="34" charset="0"/>
                        </a:rPr>
                        <a:t>1M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 Narrow" panose="020B0606020202030204" pitchFamily="34" charset="0"/>
                        </a:rPr>
                        <a:t>3M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Arial Narrow" panose="020B0606020202030204" pitchFamily="34" charset="0"/>
                        </a:rPr>
                        <a:t>12M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631706"/>
                  </a:ext>
                </a:extLst>
              </a:tr>
              <a:tr h="244207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Absolute returns (%)</a:t>
                      </a:r>
                    </a:p>
                  </a:txBody>
                  <a:tcPr marL="36000" marR="36000" marT="18000" marB="18000" anchor="ctr"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434343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434343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434343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952507"/>
                  </a:ext>
                </a:extLst>
              </a:tr>
              <a:tr h="312866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Rel. to  MSCI XX Equity(%)</a:t>
                      </a:r>
                    </a:p>
                  </a:txBody>
                  <a:tcPr marL="36000" marR="36000" marT="18000" marB="1800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434343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434343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434343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83785"/>
                  </a:ext>
                </a:extLst>
              </a:tr>
              <a:tr h="244207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Market cap (</a:t>
                      </a:r>
                      <a:r>
                        <a:rPr lang="en-US" sz="1000" b="1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USDmn</a:t>
                      </a:r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)</a:t>
                      </a:r>
                    </a:p>
                  </a:txBody>
                  <a:tcPr marL="36000" marR="36000" marT="18000" marB="18000" anchor="ctr"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648411"/>
                  </a:ext>
                </a:extLst>
              </a:tr>
              <a:tr h="244207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Share price (USD)</a:t>
                      </a:r>
                    </a:p>
                  </a:txBody>
                  <a:tcPr marL="36000" marR="36000" marT="18000" marB="18000" anchor="ctr"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621457"/>
                  </a:ext>
                </a:extLst>
              </a:tr>
              <a:tr h="244207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12M target price (USD)</a:t>
                      </a:r>
                    </a:p>
                  </a:txBody>
                  <a:tcPr marL="36000" marR="36000" marT="18000" marB="18000" anchor="ctr"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852114"/>
                  </a:ext>
                </a:extLst>
              </a:tr>
              <a:tr h="244207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Upside (%)</a:t>
                      </a:r>
                    </a:p>
                  </a:txBody>
                  <a:tcPr marL="36000" marR="36000" marT="18000" marB="18000" anchor="ctr"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16102"/>
                  </a:ext>
                </a:extLst>
              </a:tr>
              <a:tr h="244207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Cons avg. rating (1-5)</a:t>
                      </a:r>
                    </a:p>
                  </a:txBody>
                  <a:tcPr marL="36000" marR="36000" marT="18000" marB="18000" anchor="ctr"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MY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329045"/>
                  </a:ext>
                </a:extLst>
              </a:tr>
              <a:tr h="639297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Major shareholders</a:t>
                      </a:r>
                    </a:p>
                  </a:txBody>
                  <a:tcPr marL="36000" marR="36000" marT="18000" marB="18000" anchor="ctr"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5725" indent="-85725" algn="l">
                        <a:buFontTx/>
                        <a:buChar char="-"/>
                      </a:pPr>
                      <a:r>
                        <a:rPr lang="en-US" sz="1000" strike="noStrike" dirty="0" err="1"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Xxx</a:t>
                      </a:r>
                      <a:endParaRPr lang="en-US" sz="1000" strike="noStrike" dirty="0"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Roboto Condensed Light" panose="02000000000000000000" pitchFamily="2" charset="0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en-US" sz="1000" strike="noStrike" dirty="0" err="1"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Xxx</a:t>
                      </a:r>
                      <a:endParaRPr lang="en-US" sz="1000" strike="noStrike" dirty="0">
                        <a:latin typeface="Arial Narrow" panose="020B0606020202030204" pitchFamily="34" charset="0"/>
                        <a:ea typeface="Roboto Condensed Light" panose="02000000000000000000" pitchFamily="2" charset="0"/>
                        <a:cs typeface="Roboto Condensed Light" panose="02000000000000000000" pitchFamily="2" charset="0"/>
                      </a:endParaRPr>
                    </a:p>
                    <a:p>
                      <a:pPr marL="85725" indent="-85725" algn="l">
                        <a:buFontTx/>
                        <a:buChar char="-"/>
                      </a:pPr>
                      <a:r>
                        <a:rPr lang="en-US" sz="1000" strike="noStrike" dirty="0"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9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9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493193"/>
                  </a:ext>
                </a:extLst>
              </a:tr>
              <a:tr h="244207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 Narrow" panose="020B0606020202030204" pitchFamily="34" charset="0"/>
                          <a:ea typeface="Roboto Condensed Medium" panose="02000000000000000000" pitchFamily="2" charset="0"/>
                          <a:cs typeface="Roboto Condensed Medium" panose="02000000000000000000" pitchFamily="2" charset="0"/>
                        </a:rPr>
                        <a:t>MSCI ESG Rank</a:t>
                      </a:r>
                    </a:p>
                  </a:txBody>
                  <a:tcPr marL="36000" marR="36000" marT="18000" marB="18000" anchor="ctr">
                    <a:lnR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Arial Narrow" panose="020B0606020202030204" pitchFamily="34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XX</a:t>
                      </a:r>
                    </a:p>
                  </a:txBody>
                  <a:tcPr marL="36000" marR="36000" marT="18000" marB="18000" anchor="ctr">
                    <a:lnL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9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9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95991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56F31BE-668D-82EF-9AFF-26E7726495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15400" y="6301647"/>
            <a:ext cx="1225806" cy="24622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of </a:t>
            </a:r>
            <a:r>
              <a:rPr lang="en-US" sz="800" i="1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endParaRPr lang="en-MY" sz="800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130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32BD568-22F6-9FEF-57CC-BD4B2E9F302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7700" y="653576"/>
            <a:ext cx="9602086" cy="473476"/>
          </a:xfrm>
          <a:prstGeom prst="rect">
            <a:avLst/>
          </a:prstGeom>
        </p:spPr>
        <p:txBody>
          <a:bodyPr vert="horz" lIns="0" tIns="0" rIns="91440" bIns="0" rtlCol="0" anchor="t">
            <a:normAutofit/>
          </a:bodyPr>
          <a:lstStyle>
            <a:lvl1pPr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rgbClr val="50A241"/>
                </a:solidFill>
                <a:latin typeface="Roboto Black" charset="0"/>
                <a:ea typeface="Roboto Black" charset="0"/>
                <a:cs typeface="Roboto Black" charset="0"/>
              </a:defRPr>
            </a:lvl1pPr>
          </a:lstStyle>
          <a:p>
            <a:r>
              <a:rPr lang="en-US" sz="2400" dirty="0"/>
              <a:t>Company Name: Valuations (Font: Roboto Black, Size: 24)</a:t>
            </a:r>
            <a:endParaRPr lang="en-US" sz="4400" dirty="0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2BFEAE1D-E951-DC12-ACD8-9072246E93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729985" y="6448844"/>
            <a:ext cx="353846" cy="266120"/>
          </a:xfrm>
        </p:spPr>
        <p:txBody>
          <a:bodyPr/>
          <a:lstStyle/>
          <a:p>
            <a:fld id="{67650892-40D2-5549-9215-679429BEEC37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C0DB9-FD79-DF26-5B8C-2835726EEC6B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415588684"/>
              </p:ext>
            </p:extLst>
          </p:nvPr>
        </p:nvGraphicFramePr>
        <p:xfrm>
          <a:off x="6305106" y="1427371"/>
          <a:ext cx="5349606" cy="2272761"/>
        </p:xfrm>
        <a:graphic>
          <a:graphicData uri="http://schemas.openxmlformats.org/drawingml/2006/table">
            <a:tbl>
              <a:tblPr bandRow="1"/>
              <a:tblGrid>
                <a:gridCol w="1833828">
                  <a:extLst>
                    <a:ext uri="{9D8B030D-6E8A-4147-A177-3AD203B41FA5}">
                      <a16:colId xmlns:a16="http://schemas.microsoft.com/office/drawing/2014/main" val="3206692444"/>
                    </a:ext>
                  </a:extLst>
                </a:gridCol>
                <a:gridCol w="677100">
                  <a:extLst>
                    <a:ext uri="{9D8B030D-6E8A-4147-A177-3AD203B41FA5}">
                      <a16:colId xmlns:a16="http://schemas.microsoft.com/office/drawing/2014/main" val="667743611"/>
                    </a:ext>
                  </a:extLst>
                </a:gridCol>
                <a:gridCol w="687058">
                  <a:extLst>
                    <a:ext uri="{9D8B030D-6E8A-4147-A177-3AD203B41FA5}">
                      <a16:colId xmlns:a16="http://schemas.microsoft.com/office/drawing/2014/main" val="3553345055"/>
                    </a:ext>
                  </a:extLst>
                </a:gridCol>
                <a:gridCol w="706973">
                  <a:extLst>
                    <a:ext uri="{9D8B030D-6E8A-4147-A177-3AD203B41FA5}">
                      <a16:colId xmlns:a16="http://schemas.microsoft.com/office/drawing/2014/main" val="3155636763"/>
                    </a:ext>
                  </a:extLst>
                </a:gridCol>
                <a:gridCol w="667142">
                  <a:extLst>
                    <a:ext uri="{9D8B030D-6E8A-4147-A177-3AD203B41FA5}">
                      <a16:colId xmlns:a16="http://schemas.microsoft.com/office/drawing/2014/main" val="4130267745"/>
                    </a:ext>
                  </a:extLst>
                </a:gridCol>
                <a:gridCol w="777505">
                  <a:extLst>
                    <a:ext uri="{9D8B030D-6E8A-4147-A177-3AD203B41FA5}">
                      <a16:colId xmlns:a16="http://schemas.microsoft.com/office/drawing/2014/main" val="2671586264"/>
                    </a:ext>
                  </a:extLst>
                </a:gridCol>
              </a:tblGrid>
              <a:tr h="2540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USD (Year end Mar)</a:t>
                      </a:r>
                      <a:endParaRPr lang="en-MY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Roboto Condensed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FY23E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FY24E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FY25E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201145"/>
                  </a:ext>
                </a:extLst>
              </a:tr>
              <a:tr h="288386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85725" indent="0" algn="l" rtl="0" fontAlgn="ctr"/>
                      <a:r>
                        <a:rPr lang="en-MY" sz="10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GROWTH (%)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059861"/>
                  </a:ext>
                </a:extLst>
              </a:tr>
              <a:tr h="2883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65113" indent="0" algn="l" rtl="0" fontAlgn="ctr"/>
                      <a:r>
                        <a:rPr lang="en-MY" sz="1000" b="1" i="1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Revenue growth 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250977"/>
                  </a:ext>
                </a:extLst>
              </a:tr>
              <a:tr h="2883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65113" indent="0" algn="l" rtl="0" fontAlgn="ctr"/>
                      <a:r>
                        <a:rPr lang="en-MY" sz="1000" b="1" i="1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EBITDA growth 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800850"/>
                  </a:ext>
                </a:extLst>
              </a:tr>
              <a:tr h="2883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65113" indent="0" algn="l" rtl="0" fontAlgn="ctr"/>
                      <a:r>
                        <a:rPr lang="en-MY" sz="1000" b="1" i="1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Core Net Profit growth 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741398"/>
                  </a:ext>
                </a:extLst>
              </a:tr>
              <a:tr h="288386">
                <a:tc gridSpan="6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85725" indent="0" algn="l" rtl="0" fontAlgn="ctr"/>
                      <a:r>
                        <a:rPr lang="en-MY" sz="1000" b="1" i="0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MARGINS (%)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Light" panose="02000000000000000000" pitchFamily="2" charset="0"/>
                        <a:ea typeface="Roboto Light" panose="02000000000000000000" pitchFamily="2" charset="0"/>
                        <a:cs typeface="Roboto Light" panose="020000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634696"/>
                  </a:ext>
                </a:extLst>
              </a:tr>
              <a:tr h="2883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65113" indent="0" algn="l" rtl="0" fontAlgn="ctr"/>
                      <a:r>
                        <a:rPr lang="en-MY" sz="1000" b="1" i="1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EBITDA margin 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081463"/>
                  </a:ext>
                </a:extLst>
              </a:tr>
              <a:tr h="28838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265113" indent="0" algn="l" rtl="0" fontAlgn="ctr"/>
                      <a:r>
                        <a:rPr lang="en-MY" sz="1000" b="1" i="1" u="none" strike="noStrike" dirty="0">
                          <a:solidFill>
                            <a:srgbClr val="333333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Core Net Profit margin 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44475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4783668-9882-6B27-BBF9-30A665B24B0D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529640724"/>
              </p:ext>
            </p:extLst>
          </p:nvPr>
        </p:nvGraphicFramePr>
        <p:xfrm>
          <a:off x="680484" y="1427370"/>
          <a:ext cx="5316278" cy="2272758"/>
        </p:xfrm>
        <a:graphic>
          <a:graphicData uri="http://schemas.openxmlformats.org/drawingml/2006/table">
            <a:tbl>
              <a:tblPr/>
              <a:tblGrid>
                <a:gridCol w="1446028">
                  <a:extLst>
                    <a:ext uri="{9D8B030D-6E8A-4147-A177-3AD203B41FA5}">
                      <a16:colId xmlns:a16="http://schemas.microsoft.com/office/drawing/2014/main" val="1632009644"/>
                    </a:ext>
                  </a:extLst>
                </a:gridCol>
                <a:gridCol w="774050">
                  <a:extLst>
                    <a:ext uri="{9D8B030D-6E8A-4147-A177-3AD203B41FA5}">
                      <a16:colId xmlns:a16="http://schemas.microsoft.com/office/drawing/2014/main" val="611366387"/>
                    </a:ext>
                  </a:extLst>
                </a:gridCol>
                <a:gridCol w="774050">
                  <a:extLst>
                    <a:ext uri="{9D8B030D-6E8A-4147-A177-3AD203B41FA5}">
                      <a16:colId xmlns:a16="http://schemas.microsoft.com/office/drawing/2014/main" val="2767835627"/>
                    </a:ext>
                  </a:extLst>
                </a:gridCol>
                <a:gridCol w="774050">
                  <a:extLst>
                    <a:ext uri="{9D8B030D-6E8A-4147-A177-3AD203B41FA5}">
                      <a16:colId xmlns:a16="http://schemas.microsoft.com/office/drawing/2014/main" val="2132237225"/>
                    </a:ext>
                  </a:extLst>
                </a:gridCol>
                <a:gridCol w="774050">
                  <a:extLst>
                    <a:ext uri="{9D8B030D-6E8A-4147-A177-3AD203B41FA5}">
                      <a16:colId xmlns:a16="http://schemas.microsoft.com/office/drawing/2014/main" val="1411543664"/>
                    </a:ext>
                  </a:extLst>
                </a:gridCol>
                <a:gridCol w="774050">
                  <a:extLst>
                    <a:ext uri="{9D8B030D-6E8A-4147-A177-3AD203B41FA5}">
                      <a16:colId xmlns:a16="http://schemas.microsoft.com/office/drawing/2014/main" val="3256625673"/>
                    </a:ext>
                  </a:extLst>
                </a:gridCol>
              </a:tblGrid>
              <a:tr h="29455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 fontAlgn="b"/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USDmn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  (Year end Mar)</a:t>
                      </a:r>
                      <a:endParaRPr lang="en-MY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Roboto Condensed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FY21A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FY22A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FY23E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FY24E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MY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Roboto Condensed Medium" panose="02000000000000000000" pitchFamily="2" charset="0"/>
                          <a:cs typeface="Arial" panose="020B0604020202020204" pitchFamily="34" charset="0"/>
                        </a:rPr>
                        <a:t>FY25E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95137"/>
                  </a:ext>
                </a:extLst>
              </a:tr>
              <a:tr h="247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85725" indent="0" algn="l" rtl="0" fontAlgn="ctr"/>
                      <a:r>
                        <a:rPr lang="en-MY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Revenue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321486"/>
                  </a:ext>
                </a:extLst>
              </a:tr>
              <a:tr h="247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85725" indent="0" algn="l" rtl="0" fontAlgn="ctr"/>
                      <a:r>
                        <a:rPr lang="en-MY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EBITDA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425395"/>
                  </a:ext>
                </a:extLst>
              </a:tr>
              <a:tr h="247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85725" indent="0" algn="l" rtl="0" fontAlgn="ctr"/>
                      <a:r>
                        <a:rPr lang="en-MY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Net profit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560535"/>
                  </a:ext>
                </a:extLst>
              </a:tr>
              <a:tr h="247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85725" indent="0" algn="l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EPS (USD)</a:t>
                      </a:r>
                      <a:endParaRPr lang="en-MY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Roboto Medium" panose="02000000000000000000" pitchFamily="2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056863"/>
                  </a:ext>
                </a:extLst>
              </a:tr>
              <a:tr h="247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85725" indent="0" algn="l" rtl="0" fontAlgn="ctr"/>
                      <a:r>
                        <a:rPr lang="en-MY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P/E (x)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27523"/>
                  </a:ext>
                </a:extLst>
              </a:tr>
              <a:tr h="247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85725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P/B (x)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27794"/>
                  </a:ext>
                </a:extLst>
              </a:tr>
              <a:tr h="247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85725" indent="0" algn="l" rtl="0" fontAlgn="ctr"/>
                      <a:r>
                        <a:rPr lang="en-MY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RoE</a:t>
                      </a:r>
                      <a:r>
                        <a:rPr lang="en-MY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 (%)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584162"/>
                  </a:ext>
                </a:extLst>
              </a:tr>
              <a:tr h="2472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85725" indent="0" algn="l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Medium" panose="02000000000000000000" pitchFamily="2" charset="0"/>
                          <a:cs typeface="Arial" panose="020B0604020202020204" pitchFamily="34" charset="0"/>
                        </a:rPr>
                        <a:t>Gearing (%)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Roboto Light" panose="02000000000000000000" pitchFamily="2" charset="0"/>
                          <a:cs typeface="Arial" panose="020B0604020202020204" pitchFamily="34" charset="0"/>
                        </a:rPr>
                        <a:t>xx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158173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D945E701-D602-4FAC-F44E-93C3E4CDC8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69851" y="3838354"/>
            <a:ext cx="5326912" cy="24880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3E3926-6E1A-9DB3-94FB-3A34D882C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9596" y="3838004"/>
            <a:ext cx="5317167" cy="28742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Price to Book Band Chart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0BD7FD-DF4E-6887-286B-D5C9D36509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05107" y="3852530"/>
            <a:ext cx="5349605" cy="24880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C8251E-E70D-2BE4-E77B-675E4C89C8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05106" y="3838004"/>
            <a:ext cx="5348178" cy="28742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Arial" panose="020B0604020202020204" pitchFamily="34" charset="0"/>
              </a:rPr>
              <a:t>Price to Earning Band Chart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462D7-2DEB-8DDC-49F2-A754AE127B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87478" y="6322840"/>
            <a:ext cx="2519917" cy="3028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900" i="1" dirty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  <a:cs typeface="Arial" panose="020B0604020202020204" pitchFamily="34" charset="0"/>
              </a:rPr>
              <a:t>Source: Bloomberg, Company Annual Report</a:t>
            </a:r>
            <a:endParaRPr lang="en-GB" sz="900" i="1" dirty="0">
              <a:solidFill>
                <a:schemeClr val="tx1"/>
              </a:solidFill>
              <a:latin typeface="Arial" panose="020B0604020202020204" pitchFamily="34" charset="0"/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418347-08F8-17FA-E85D-3AB792709E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1" y="6315752"/>
            <a:ext cx="2509284" cy="3028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900" i="1" dirty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  <a:cs typeface="Arial" panose="020B0604020202020204" pitchFamily="34" charset="0"/>
              </a:rPr>
              <a:t>Source: Bloomberg, Company Annual Report</a:t>
            </a:r>
            <a:endParaRPr lang="en-GB" sz="900" i="1" dirty="0">
              <a:solidFill>
                <a:schemeClr val="tx1"/>
              </a:solidFill>
              <a:latin typeface="Arial" panose="020B0604020202020204" pitchFamily="34" charset="0"/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589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55EDF-E200-5A3C-1F34-47BA972C84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400" y="2818479"/>
            <a:ext cx="4428067" cy="550333"/>
          </a:xfrm>
        </p:spPr>
        <p:txBody>
          <a:bodyPr>
            <a:normAutofit fontScale="85000" lnSpcReduction="20000"/>
          </a:bodyPr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0836936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2B3889"/>
      </a:dk2>
      <a:lt2>
        <a:srgbClr val="E2EDD7"/>
      </a:lt2>
      <a:accent1>
        <a:srgbClr val="419243"/>
      </a:accent1>
      <a:accent2>
        <a:srgbClr val="FFD967"/>
      </a:accent2>
      <a:accent3>
        <a:srgbClr val="509CD5"/>
      </a:accent3>
      <a:accent4>
        <a:srgbClr val="2B3889"/>
      </a:accent4>
      <a:accent5>
        <a:srgbClr val="CCC6E2"/>
      </a:accent5>
      <a:accent6>
        <a:srgbClr val="9F7FBA"/>
      </a:accent6>
      <a:hlink>
        <a:srgbClr val="9F7FBA"/>
      </a:hlink>
      <a:folHlink>
        <a:srgbClr val="509CD5"/>
      </a:folHlink>
    </a:clrScheme>
    <a:fontScheme name="AM Theme Fonts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1469</Words>
  <Application>Microsoft Office PowerPoint</Application>
  <PresentationFormat>Widescreen</PresentationFormat>
  <Paragraphs>729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Narrow</vt:lpstr>
      <vt:lpstr>Calibri</vt:lpstr>
      <vt:lpstr>Roboto</vt:lpstr>
      <vt:lpstr>Roboto Black</vt:lpstr>
      <vt:lpstr>Roboto Condensed Light</vt:lpstr>
      <vt:lpstr>Roboto Condensed Medium</vt:lpstr>
      <vt:lpstr>Roboto Light</vt:lpstr>
      <vt:lpstr>Roboto Medium</vt:lpstr>
      <vt:lpstr>1_Office Theme</vt:lpstr>
      <vt:lpstr>Year end reflections SubTitle</vt:lpstr>
      <vt:lpstr>Main Title Area</vt:lpstr>
      <vt:lpstr>Main title (Font: Roboto Black, Size: 24) SubTitle (Font: Roboto, Size: 20)</vt:lpstr>
      <vt:lpstr>Main title (Font: Roboto Black, Size: 24) SubTitle (Font: Roboto, Size: 20)</vt:lpstr>
      <vt:lpstr>Section divider</vt:lpstr>
      <vt:lpstr>Main title (Font: Roboto Black, Size: 24) SubTitle (Font: Roboto Light, Size: 20)</vt:lpstr>
      <vt:lpstr>Stock Selection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Economics – What drives 70-80% avg. gross margins? High margins make room for levers to be exercised in a recessionary environment</dc:title>
  <dc:creator>Edryna Syfinaz Zarif Ahmed Zaharani</dc:creator>
  <cp:lastModifiedBy>Seet RuiXi</cp:lastModifiedBy>
  <cp:revision>154</cp:revision>
  <dcterms:created xsi:type="dcterms:W3CDTF">2023-11-30T03:54:35Z</dcterms:created>
  <dcterms:modified xsi:type="dcterms:W3CDTF">2025-12-31T01:19:26Z</dcterms:modified>
</cp:coreProperties>
</file>